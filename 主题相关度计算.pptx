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7" r:id="rId14"/>
    <p:sldId id="269" r:id="rId15"/>
    <p:sldId id="268" r:id="rId16"/>
    <p:sldId id="271"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4660"/>
  </p:normalViewPr>
  <p:slideViewPr>
    <p:cSldViewPr snapToGrid="0">
      <p:cViewPr varScale="1">
        <p:scale>
          <a:sx n="70" d="100"/>
          <a:sy n="70" d="100"/>
        </p:scale>
        <p:origin x="73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3488208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1938733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3379629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3420899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1266707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1165157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4231970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680074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333475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823389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CD42530-E422-42C2-A6DB-DF062D468545}" type="datetimeFigureOut">
              <a:rPr lang="zh-CN" altLang="en-US" smtClean="0"/>
              <a:t>2020/8/2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1031762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D42530-E422-42C2-A6DB-DF062D468545}" type="datetimeFigureOut">
              <a:rPr lang="zh-CN" altLang="en-US" smtClean="0"/>
              <a:t>2020/8/2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4A5C80-3F39-4B2D-82E0-D5D63880902C}" type="slidenum">
              <a:rPr lang="zh-CN" altLang="en-US" smtClean="0"/>
              <a:t>‹#›</a:t>
            </a:fld>
            <a:endParaRPr lang="zh-CN" altLang="en-US"/>
          </a:p>
        </p:txBody>
      </p:sp>
    </p:spTree>
    <p:extLst>
      <p:ext uri="{BB962C8B-B14F-4D97-AF65-F5344CB8AC3E}">
        <p14:creationId xmlns:p14="http://schemas.microsoft.com/office/powerpoint/2010/main" val="1816974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oleObject" Target="../embeddings/oleObject1.bin"/><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 Id="rId9"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5.bin"/><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6.bin"/><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wmf"/><Relationship Id="rId5" Type="http://schemas.openxmlformats.org/officeDocument/2006/relationships/oleObject" Target="../embeddings/oleObject7.bin"/><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7.w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8.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0.wmf"/><Relationship Id="rId5" Type="http://schemas.openxmlformats.org/officeDocument/2006/relationships/oleObject" Target="../embeddings/oleObject11.bin"/><Relationship Id="rId4" Type="http://schemas.openxmlformats.org/officeDocument/2006/relationships/image" Target="../media/image9.wmf"/></Relationships>
</file>

<file path=ppt/slides/_rels/slide14.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2.wmf"/><Relationship Id="rId5" Type="http://schemas.openxmlformats.org/officeDocument/2006/relationships/oleObject" Target="../embeddings/oleObject14.bin"/><Relationship Id="rId4" Type="http://schemas.openxmlformats.org/officeDocument/2006/relationships/image" Target="../media/image9.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4.wmf"/></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883858"/>
          </a:xfrm>
        </p:spPr>
        <p:txBody>
          <a:bodyPr>
            <a:normAutofit/>
          </a:bodyPr>
          <a:lstStyle/>
          <a:p>
            <a:r>
              <a:rPr lang="zh-CN" altLang="en-US" sz="3600" dirty="0" smtClean="0"/>
              <a:t>主题相关度计算</a:t>
            </a:r>
            <a:endParaRPr lang="zh-CN" altLang="en-US" sz="3600" dirty="0"/>
          </a:p>
        </p:txBody>
      </p:sp>
      <p:sp>
        <p:nvSpPr>
          <p:cNvPr id="3" name="副标题 2"/>
          <p:cNvSpPr>
            <a:spLocks noGrp="1"/>
          </p:cNvSpPr>
          <p:nvPr>
            <p:ph type="subTitle" idx="1"/>
          </p:nvPr>
        </p:nvSpPr>
        <p:spPr/>
        <p:txBody>
          <a:bodyPr/>
          <a:lstStyle/>
          <a:p>
            <a:r>
              <a:rPr lang="zh-CN" altLang="en-US" dirty="0" smtClean="0"/>
              <a:t>汇报人：肖伟</a:t>
            </a:r>
            <a:endParaRPr lang="zh-CN" altLang="en-US" dirty="0"/>
          </a:p>
        </p:txBody>
      </p:sp>
    </p:spTree>
    <p:extLst>
      <p:ext uri="{BB962C8B-B14F-4D97-AF65-F5344CB8AC3E}">
        <p14:creationId xmlns:p14="http://schemas.microsoft.com/office/powerpoint/2010/main" val="1635243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860" y="0"/>
            <a:ext cx="10515600" cy="1325563"/>
          </a:xfrm>
        </p:spPr>
        <p:txBody>
          <a:bodyPr/>
          <a:lstStyle/>
          <a:p>
            <a:r>
              <a:rPr lang="zh-CN" altLang="en-US" dirty="0" smtClean="0"/>
              <a:t>研究背景</a:t>
            </a:r>
            <a:endParaRPr lang="zh-CN" altLang="en-US" dirty="0"/>
          </a:p>
        </p:txBody>
      </p:sp>
      <p:sp>
        <p:nvSpPr>
          <p:cNvPr id="3" name="文本框 2"/>
          <p:cNvSpPr txBox="1"/>
          <p:nvPr/>
        </p:nvSpPr>
        <p:spPr>
          <a:xfrm>
            <a:off x="1005840" y="2125980"/>
            <a:ext cx="8458200" cy="2246769"/>
          </a:xfrm>
          <a:prstGeom prst="rect">
            <a:avLst/>
          </a:prstGeom>
          <a:noFill/>
        </p:spPr>
        <p:txBody>
          <a:bodyPr wrap="square" rtlCol="0">
            <a:spAutoFit/>
          </a:bodyPr>
          <a:lstStyle/>
          <a:p>
            <a:r>
              <a:rPr lang="zh-CN" altLang="en-US" sz="2800" dirty="0" smtClean="0"/>
              <a:t>主题爬虫以优先访问那些和主题相关性高的网页作为设计目标，因此网页的主题相关度计算是主题爬虫的关键技术之一。而主题相关度计算已经取得了很多不错的研究成果，大多数采用的是基于向量空间模型的方法。</a:t>
            </a:r>
            <a:endParaRPr lang="zh-CN" altLang="en-US" sz="2800" dirty="0"/>
          </a:p>
        </p:txBody>
      </p:sp>
    </p:spTree>
    <p:extLst>
      <p:ext uri="{BB962C8B-B14F-4D97-AF65-F5344CB8AC3E}">
        <p14:creationId xmlns:p14="http://schemas.microsoft.com/office/powerpoint/2010/main" val="68203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smtClean="0"/>
              <a:t>基于向量空间模型的主题相关度计算</a:t>
            </a:r>
            <a:endParaRPr lang="zh-CN" altLang="en-US" dirty="0"/>
          </a:p>
        </p:txBody>
      </p:sp>
      <p:sp>
        <p:nvSpPr>
          <p:cNvPr id="3" name="文本框 2"/>
          <p:cNvSpPr txBox="1"/>
          <p:nvPr/>
        </p:nvSpPr>
        <p:spPr>
          <a:xfrm>
            <a:off x="2197289" y="1651379"/>
            <a:ext cx="7833815" cy="2308324"/>
          </a:xfrm>
          <a:prstGeom prst="rect">
            <a:avLst/>
          </a:prstGeom>
          <a:noFill/>
        </p:spPr>
        <p:txBody>
          <a:bodyPr wrap="square" rtlCol="0">
            <a:spAutoFit/>
          </a:bodyPr>
          <a:lstStyle/>
          <a:p>
            <a:r>
              <a:rPr lang="zh-CN" altLang="en-US" sz="2400" dirty="0" smtClean="0"/>
              <a:t>基本思想：</a:t>
            </a:r>
            <a:endParaRPr lang="en-US" altLang="zh-CN" sz="2400" dirty="0" smtClean="0"/>
          </a:p>
          <a:p>
            <a:r>
              <a:rPr lang="zh-CN" altLang="en-US" sz="2400" dirty="0"/>
              <a:t>一</a:t>
            </a:r>
            <a:r>
              <a:rPr lang="zh-CN" altLang="en-US" sz="2400" dirty="0" smtClean="0"/>
              <a:t>篇文章的核心内容是通过词语表达，将文档中的词语用</a:t>
            </a:r>
            <a:endParaRPr lang="en-US" altLang="zh-CN" sz="2400" dirty="0" smtClean="0"/>
          </a:p>
          <a:p>
            <a:r>
              <a:rPr lang="zh-CN" altLang="en-US" sz="2400" dirty="0" smtClean="0"/>
              <a:t>一个向量表示，则可以根据向量之间的夹角余弦值表示当</a:t>
            </a:r>
            <a:endParaRPr lang="en-US" altLang="zh-CN" sz="2400" dirty="0" smtClean="0"/>
          </a:p>
          <a:p>
            <a:r>
              <a:rPr lang="zh-CN" altLang="en-US" sz="2400" dirty="0" smtClean="0"/>
              <a:t>前文本与查询文本的相关程度。夹角余弦值在</a:t>
            </a:r>
            <a:r>
              <a:rPr lang="en-US" altLang="zh-CN" sz="2400" dirty="0" smtClean="0"/>
              <a:t>[0, 1]</a:t>
            </a:r>
            <a:r>
              <a:rPr lang="zh-CN" altLang="en-US" sz="2400" dirty="0" smtClean="0"/>
              <a:t>范围内，</a:t>
            </a:r>
            <a:endParaRPr lang="en-US" altLang="zh-CN" sz="2400" dirty="0" smtClean="0"/>
          </a:p>
          <a:p>
            <a:r>
              <a:rPr lang="zh-CN" altLang="en-US" sz="2400" dirty="0" smtClean="0"/>
              <a:t>当夹角为</a:t>
            </a:r>
            <a:r>
              <a:rPr lang="en-US" altLang="zh-CN" sz="2400" dirty="0" smtClean="0"/>
              <a:t>0</a:t>
            </a:r>
            <a:r>
              <a:rPr lang="zh-CN" altLang="en-US" sz="2400" dirty="0" smtClean="0"/>
              <a:t>时，夹角的余弦值为</a:t>
            </a:r>
            <a:r>
              <a:rPr lang="en-US" altLang="zh-CN" sz="2400" dirty="0" smtClean="0"/>
              <a:t>1</a:t>
            </a:r>
            <a:r>
              <a:rPr lang="zh-CN" altLang="en-US" sz="2400" dirty="0" smtClean="0"/>
              <a:t>，主题与文本的相关度最</a:t>
            </a:r>
            <a:endParaRPr lang="en-US" altLang="zh-CN" sz="2400" dirty="0" smtClean="0"/>
          </a:p>
          <a:p>
            <a:r>
              <a:rPr lang="zh-CN" altLang="en-US" sz="2400" dirty="0" smtClean="0"/>
              <a:t>高，此时的主题与文本最相关。</a:t>
            </a:r>
            <a:endParaRPr lang="zh-CN" altLang="en-US" sz="2400" dirty="0"/>
          </a:p>
        </p:txBody>
      </p:sp>
    </p:spTree>
    <p:extLst>
      <p:ext uri="{BB962C8B-B14F-4D97-AF65-F5344CB8AC3E}">
        <p14:creationId xmlns:p14="http://schemas.microsoft.com/office/powerpoint/2010/main" val="2207162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0"/>
            <a:ext cx="9144000" cy="801971"/>
          </a:xfrm>
        </p:spPr>
        <p:txBody>
          <a:bodyPr>
            <a:normAutofit/>
          </a:bodyPr>
          <a:lstStyle/>
          <a:p>
            <a:r>
              <a:rPr lang="zh-CN" altLang="en-US" sz="4400" dirty="0"/>
              <a:t>基于向量空间模型的主题相关度计算</a:t>
            </a:r>
          </a:p>
        </p:txBody>
      </p:sp>
      <p:sp>
        <p:nvSpPr>
          <p:cNvPr id="3" name="副标题 2"/>
          <p:cNvSpPr>
            <a:spLocks noGrp="1"/>
          </p:cNvSpPr>
          <p:nvPr>
            <p:ph type="subTitle" idx="1"/>
          </p:nvPr>
        </p:nvSpPr>
        <p:spPr>
          <a:xfrm>
            <a:off x="759725" y="1582169"/>
            <a:ext cx="9144000" cy="5077938"/>
          </a:xfrm>
        </p:spPr>
        <p:txBody>
          <a:bodyPr>
            <a:normAutofit/>
          </a:bodyPr>
          <a:lstStyle/>
          <a:p>
            <a:pPr algn="l"/>
            <a:r>
              <a:rPr lang="zh-CN" altLang="en-US" dirty="0" smtClean="0"/>
              <a:t>计算方法：</a:t>
            </a:r>
            <a:endParaRPr lang="en-US" altLang="zh-CN" dirty="0" smtClean="0"/>
          </a:p>
          <a:p>
            <a:pPr algn="l"/>
            <a:r>
              <a:rPr lang="zh-CN" altLang="en-US" dirty="0" smtClean="0"/>
              <a:t>首先确定主题爬虫的主题词集</a:t>
            </a:r>
            <a:r>
              <a:rPr lang="en-US" altLang="zh-CN" dirty="0" smtClean="0"/>
              <a:t>(</a:t>
            </a:r>
            <a:r>
              <a:rPr lang="zh-CN" altLang="en-US" dirty="0" smtClean="0"/>
              <a:t>本方法采用人工确定，另一种通过分析初始页面获得</a:t>
            </a:r>
            <a:r>
              <a:rPr lang="en-US" altLang="zh-CN" dirty="0" smtClean="0"/>
              <a:t>)</a:t>
            </a:r>
            <a:r>
              <a:rPr lang="zh-CN" altLang="en-US" dirty="0" smtClean="0"/>
              <a:t>。本方法将主题词的个数作为主题向量的维数，相应的权值为主题向量的各个分量值。主题词集向量记为：</a:t>
            </a:r>
            <a:r>
              <a:rPr lang="en-US" altLang="zh-CN" dirty="0" smtClean="0"/>
              <a:t>K={k1,k2…</a:t>
            </a:r>
            <a:r>
              <a:rPr lang="en-US" altLang="zh-CN" dirty="0" err="1" smtClean="0"/>
              <a:t>kn</a:t>
            </a:r>
            <a:r>
              <a:rPr lang="en-US" altLang="zh-CN" dirty="0" smtClean="0"/>
              <a:t>}</a:t>
            </a:r>
            <a:r>
              <a:rPr lang="zh-CN" altLang="en-US" dirty="0" smtClean="0"/>
              <a:t>。</a:t>
            </a:r>
            <a:endParaRPr lang="en-US" altLang="zh-CN" dirty="0" smtClean="0"/>
          </a:p>
          <a:p>
            <a:pPr algn="l"/>
            <a:r>
              <a:rPr lang="zh-CN" altLang="en-US" dirty="0" smtClean="0"/>
              <a:t>其次统计特征词出现的位置以及次数，并赋予权重，即关键词的词</a:t>
            </a:r>
            <a:endParaRPr lang="en-US" altLang="zh-CN" dirty="0" smtClean="0"/>
          </a:p>
          <a:p>
            <a:pPr algn="l"/>
            <a:endParaRPr lang="en-US" altLang="zh-CN" dirty="0"/>
          </a:p>
          <a:p>
            <a:pPr algn="l"/>
            <a:r>
              <a:rPr lang="zh-CN" altLang="en-US" dirty="0" smtClean="0"/>
              <a:t>频，计算公式为：                                      </a:t>
            </a:r>
            <a:endParaRPr lang="en-US" altLang="zh-CN" dirty="0" smtClean="0"/>
          </a:p>
          <a:p>
            <a:pPr algn="l"/>
            <a:endParaRPr lang="en-US" altLang="zh-CN" dirty="0" smtClean="0"/>
          </a:p>
          <a:p>
            <a:pPr algn="l"/>
            <a:r>
              <a:rPr lang="zh-CN" altLang="en-US" dirty="0" smtClean="0"/>
              <a:t>该方法考虑到关键词出现的位置对主题相关性计算的影响。如在锚文本和标题处出现比在正文处出现有更高的价值。即        代表不同位置的权重系数，  表示关键词在该位置出现的次数。</a:t>
            </a:r>
            <a:endParaRPr lang="en-US" altLang="zh-CN" dirty="0" smtClean="0"/>
          </a:p>
        </p:txBody>
      </p:sp>
      <p:graphicFrame>
        <p:nvGraphicFramePr>
          <p:cNvPr id="4" name="对象 3"/>
          <p:cNvGraphicFramePr>
            <a:graphicFrameLocks noChangeAspect="1"/>
          </p:cNvGraphicFramePr>
          <p:nvPr>
            <p:extLst>
              <p:ext uri="{D42A27DB-BD31-4B8C-83A1-F6EECF244321}">
                <p14:modId xmlns:p14="http://schemas.microsoft.com/office/powerpoint/2010/main" val="1929970763"/>
              </p:ext>
            </p:extLst>
          </p:nvPr>
        </p:nvGraphicFramePr>
        <p:xfrm>
          <a:off x="3084015" y="3825660"/>
          <a:ext cx="2784522" cy="1933695"/>
        </p:xfrm>
        <a:graphic>
          <a:graphicData uri="http://schemas.openxmlformats.org/presentationml/2006/ole">
            <mc:AlternateContent xmlns:mc="http://schemas.openxmlformats.org/markup-compatibility/2006">
              <mc:Choice xmlns:v="urn:schemas-microsoft-com:vml" Requires="v">
                <p:oleObj spid="_x0000_s1060" name="Equation" r:id="rId3" imgW="914400" imgH="634680" progId="Equation.DSMT4">
                  <p:embed/>
                </p:oleObj>
              </mc:Choice>
              <mc:Fallback>
                <p:oleObj name="Equation" r:id="rId3" imgW="914400" imgH="634680" progId="Equation.DSMT4">
                  <p:embed/>
                  <p:pic>
                    <p:nvPicPr>
                      <p:cNvPr id="0" name=""/>
                      <p:cNvPicPr/>
                      <p:nvPr/>
                    </p:nvPicPr>
                    <p:blipFill>
                      <a:blip r:embed="rId4"/>
                      <a:stretch>
                        <a:fillRect/>
                      </a:stretch>
                    </p:blipFill>
                    <p:spPr>
                      <a:xfrm>
                        <a:off x="3084015" y="3825660"/>
                        <a:ext cx="2784522" cy="193369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621382978"/>
              </p:ext>
            </p:extLst>
          </p:nvPr>
        </p:nvGraphicFramePr>
        <p:xfrm>
          <a:off x="4394200" y="2362200"/>
          <a:ext cx="914400" cy="198438"/>
        </p:xfrm>
        <a:graphic>
          <a:graphicData uri="http://schemas.openxmlformats.org/presentationml/2006/ole">
            <mc:AlternateContent xmlns:mc="http://schemas.openxmlformats.org/markup-compatibility/2006">
              <mc:Choice xmlns:v="urn:schemas-microsoft-com:vml" Requires="v">
                <p:oleObj spid="_x0000_s1061" name="Equation" r:id="rId5" imgW="914400" imgH="198720" progId="Equation.DSMT4">
                  <p:embed/>
                </p:oleObj>
              </mc:Choice>
              <mc:Fallback>
                <p:oleObj name="Equation" r:id="rId5" imgW="914400" imgH="198720" progId="Equation.DSMT4">
                  <p:embed/>
                  <p:pic>
                    <p:nvPicPr>
                      <p:cNvPr id="0" name=""/>
                      <p:cNvPicPr/>
                      <p:nvPr/>
                    </p:nvPicPr>
                    <p:blipFill>
                      <a:blip r:embed="rId6"/>
                      <a:stretch>
                        <a:fillRect/>
                      </a:stretch>
                    </p:blipFill>
                    <p:spPr>
                      <a:xfrm>
                        <a:off x="4394200" y="2362200"/>
                        <a:ext cx="914400" cy="198438"/>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矩形 5"/>
              <p:cNvSpPr/>
              <p:nvPr/>
            </p:nvSpPr>
            <p:spPr>
              <a:xfrm>
                <a:off x="7769746" y="5574689"/>
                <a:ext cx="846161"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𝑖</m:t>
                          </m:r>
                        </m:sub>
                      </m:sSub>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7769746" y="5574689"/>
                <a:ext cx="846161" cy="369332"/>
              </a:xfrm>
              <a:prstGeom prst="rect">
                <a:avLst/>
              </a:prstGeom>
              <a:blipFill rotWithShape="0">
                <a:blip r:embed="rId7"/>
                <a:stretch>
                  <a:fillRect/>
                </a:stretch>
              </a:blipFill>
            </p:spPr>
            <p:txBody>
              <a:bodyPr/>
              <a:lstStyle/>
              <a:p>
                <a:r>
                  <a:rPr lang="zh-CN" altLang="en-US">
                    <a:noFill/>
                  </a:rPr>
                  <a:t> </a:t>
                </a:r>
              </a:p>
            </p:txBody>
          </p:sp>
        </mc:Fallback>
      </mc:AlternateContent>
      <p:graphicFrame>
        <p:nvGraphicFramePr>
          <p:cNvPr id="7" name="对象 6"/>
          <p:cNvGraphicFramePr>
            <a:graphicFrameLocks noChangeAspect="1"/>
          </p:cNvGraphicFramePr>
          <p:nvPr>
            <p:extLst>
              <p:ext uri="{D42A27DB-BD31-4B8C-83A1-F6EECF244321}">
                <p14:modId xmlns:p14="http://schemas.microsoft.com/office/powerpoint/2010/main" val="2925092591"/>
              </p:ext>
            </p:extLst>
          </p:nvPr>
        </p:nvGraphicFramePr>
        <p:xfrm>
          <a:off x="3084015" y="5910323"/>
          <a:ext cx="322856" cy="645712"/>
        </p:xfrm>
        <a:graphic>
          <a:graphicData uri="http://schemas.openxmlformats.org/presentationml/2006/ole">
            <mc:AlternateContent xmlns:mc="http://schemas.openxmlformats.org/markup-compatibility/2006">
              <mc:Choice xmlns:v="urn:schemas-microsoft-com:vml" Requires="v">
                <p:oleObj spid="_x0000_s1062" name="Equation" r:id="rId8" imgW="164880" imgH="330120" progId="Equation.DSMT4">
                  <p:embed/>
                </p:oleObj>
              </mc:Choice>
              <mc:Fallback>
                <p:oleObj name="Equation" r:id="rId8" imgW="164880" imgH="330120" progId="Equation.DSMT4">
                  <p:embed/>
                  <p:pic>
                    <p:nvPicPr>
                      <p:cNvPr id="0" name=""/>
                      <p:cNvPicPr/>
                      <p:nvPr/>
                    </p:nvPicPr>
                    <p:blipFill>
                      <a:blip r:embed="rId9"/>
                      <a:stretch>
                        <a:fillRect/>
                      </a:stretch>
                    </p:blipFill>
                    <p:spPr>
                      <a:xfrm>
                        <a:off x="3084015" y="5910323"/>
                        <a:ext cx="322856" cy="645712"/>
                      </a:xfrm>
                      <a:prstGeom prst="rect">
                        <a:avLst/>
                      </a:prstGeom>
                    </p:spPr>
                  </p:pic>
                </p:oleObj>
              </mc:Fallback>
            </mc:AlternateContent>
          </a:graphicData>
        </a:graphic>
      </p:graphicFrame>
    </p:spTree>
    <p:extLst>
      <p:ext uri="{BB962C8B-B14F-4D97-AF65-F5344CB8AC3E}">
        <p14:creationId xmlns:p14="http://schemas.microsoft.com/office/powerpoint/2010/main" val="3790153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a:t>基于向量空间模型的主题相关度计算</a:t>
            </a:r>
          </a:p>
        </p:txBody>
      </p:sp>
      <p:graphicFrame>
        <p:nvGraphicFramePr>
          <p:cNvPr id="4" name="内容占位符 3"/>
          <p:cNvGraphicFramePr>
            <a:graphicFrameLocks noGrp="1" noChangeAspect="1"/>
          </p:cNvGraphicFramePr>
          <p:nvPr>
            <p:ph idx="1"/>
            <p:extLst>
              <p:ext uri="{D42A27DB-BD31-4B8C-83A1-F6EECF244321}">
                <p14:modId xmlns:p14="http://schemas.microsoft.com/office/powerpoint/2010/main" val="2942603641"/>
              </p:ext>
            </p:extLst>
          </p:nvPr>
        </p:nvGraphicFramePr>
        <p:xfrm>
          <a:off x="288878" y="1090720"/>
          <a:ext cx="2618096" cy="1818122"/>
        </p:xfrm>
        <a:graphic>
          <a:graphicData uri="http://schemas.openxmlformats.org/presentationml/2006/ole">
            <mc:AlternateContent xmlns:mc="http://schemas.openxmlformats.org/markup-compatibility/2006">
              <mc:Choice xmlns:v="urn:schemas-microsoft-com:vml" Requires="v">
                <p:oleObj spid="_x0000_s2074" name="Equation" r:id="rId3" imgW="914400" imgH="634680" progId="Equation.DSMT4">
                  <p:embed/>
                </p:oleObj>
              </mc:Choice>
              <mc:Fallback>
                <p:oleObj name="Equation" r:id="rId3" imgW="914400" imgH="634680" progId="Equation.DSMT4">
                  <p:embed/>
                  <p:pic>
                    <p:nvPicPr>
                      <p:cNvPr id="0" name=""/>
                      <p:cNvPicPr/>
                      <p:nvPr/>
                    </p:nvPicPr>
                    <p:blipFill>
                      <a:blip r:embed="rId4"/>
                      <a:stretch>
                        <a:fillRect/>
                      </a:stretch>
                    </p:blipFill>
                    <p:spPr>
                      <a:xfrm>
                        <a:off x="288878" y="1090720"/>
                        <a:ext cx="2618096" cy="1818122"/>
                      </a:xfrm>
                      <a:prstGeom prst="rect">
                        <a:avLst/>
                      </a:prstGeom>
                    </p:spPr>
                  </p:pic>
                </p:oleObj>
              </mc:Fallback>
            </mc:AlternateContent>
          </a:graphicData>
        </a:graphic>
      </p:graphicFrame>
      <p:sp>
        <p:nvSpPr>
          <p:cNvPr id="5" name="文本框 4"/>
          <p:cNvSpPr txBox="1"/>
          <p:nvPr/>
        </p:nvSpPr>
        <p:spPr>
          <a:xfrm>
            <a:off x="1487606" y="4001431"/>
            <a:ext cx="8598089" cy="1754326"/>
          </a:xfrm>
          <a:prstGeom prst="rect">
            <a:avLst/>
          </a:prstGeom>
          <a:noFill/>
        </p:spPr>
        <p:txBody>
          <a:bodyPr wrap="square" rtlCol="0">
            <a:spAutoFit/>
          </a:bodyPr>
          <a:lstStyle/>
          <a:p>
            <a:r>
              <a:rPr lang="zh-CN" altLang="en-US" dirty="0" smtClean="0"/>
              <a:t>其中                                                        ，即关键词出现在锚文本的位置，对主题的影响</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smtClean="0"/>
              <a:t>最大，其次是出现在标题中，最后是出现在网页的正文中         </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1267993154"/>
              </p:ext>
            </p:extLst>
          </p:nvPr>
        </p:nvGraphicFramePr>
        <p:xfrm>
          <a:off x="2297562" y="3380301"/>
          <a:ext cx="2519737" cy="1642076"/>
        </p:xfrm>
        <a:graphic>
          <a:graphicData uri="http://schemas.openxmlformats.org/presentationml/2006/ole">
            <mc:AlternateContent xmlns:mc="http://schemas.openxmlformats.org/markup-compatibility/2006">
              <mc:Choice xmlns:v="urn:schemas-microsoft-com:vml" Requires="v">
                <p:oleObj spid="_x0000_s2075" name="Equation" r:id="rId5" imgW="1130040" imgH="736560" progId="Equation.DSMT4">
                  <p:embed/>
                </p:oleObj>
              </mc:Choice>
              <mc:Fallback>
                <p:oleObj name="Equation" r:id="rId5" imgW="1130040" imgH="736560" progId="Equation.DSMT4">
                  <p:embed/>
                  <p:pic>
                    <p:nvPicPr>
                      <p:cNvPr id="0" name=""/>
                      <p:cNvPicPr/>
                      <p:nvPr/>
                    </p:nvPicPr>
                    <p:blipFill>
                      <a:blip r:embed="rId6"/>
                      <a:stretch>
                        <a:fillRect/>
                      </a:stretch>
                    </p:blipFill>
                    <p:spPr>
                      <a:xfrm>
                        <a:off x="2297562" y="3380301"/>
                        <a:ext cx="2519737" cy="1642076"/>
                      </a:xfrm>
                      <a:prstGeom prst="rect">
                        <a:avLst/>
                      </a:prstGeom>
                    </p:spPr>
                  </p:pic>
                </p:oleObj>
              </mc:Fallback>
            </mc:AlternateContent>
          </a:graphicData>
        </a:graphic>
      </p:graphicFrame>
    </p:spTree>
    <p:extLst>
      <p:ext uri="{BB962C8B-B14F-4D97-AF65-F5344CB8AC3E}">
        <p14:creationId xmlns:p14="http://schemas.microsoft.com/office/powerpoint/2010/main" val="2286734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a:t>基于向量空间模型的主题相关度计算</a:t>
            </a:r>
          </a:p>
        </p:txBody>
      </p:sp>
      <p:sp>
        <p:nvSpPr>
          <p:cNvPr id="3" name="内容占位符 2"/>
          <p:cNvSpPr>
            <a:spLocks noGrp="1"/>
          </p:cNvSpPr>
          <p:nvPr>
            <p:ph idx="1"/>
          </p:nvPr>
        </p:nvSpPr>
        <p:spPr/>
        <p:txBody>
          <a:bodyPr/>
          <a:lstStyle/>
          <a:p>
            <a:pPr marL="0" indent="0">
              <a:buNone/>
            </a:pPr>
            <a:r>
              <a:rPr lang="zh-CN" altLang="en-US" dirty="0" smtClean="0"/>
              <a:t>以上是解决了关键词出现的位置权重问题，然后开始计算主题相</a:t>
            </a:r>
            <a:endParaRPr lang="en-US" altLang="zh-CN" dirty="0" smtClean="0"/>
          </a:p>
          <a:p>
            <a:endParaRPr lang="en-US" altLang="zh-CN" dirty="0"/>
          </a:p>
          <a:p>
            <a:pPr marL="0" indent="0">
              <a:buNone/>
            </a:pPr>
            <a:r>
              <a:rPr lang="zh-CN" altLang="en-US" dirty="0" smtClean="0"/>
              <a:t>关度，计算公式为：                                                           </a:t>
            </a:r>
            <a:endParaRPr lang="en-US" altLang="zh-CN" dirty="0" smtClean="0"/>
          </a:p>
          <a:p>
            <a:pPr marL="0" indent="0">
              <a:buNone/>
            </a:pPr>
            <a:endParaRPr lang="en-US" altLang="zh-CN" dirty="0"/>
          </a:p>
          <a:p>
            <a:pPr marL="0" indent="0">
              <a:buNone/>
            </a:pPr>
            <a:endParaRPr lang="en-US" altLang="zh-CN" dirty="0" smtClean="0"/>
          </a:p>
          <a:p>
            <a:pPr marL="0" indent="0">
              <a:buNone/>
            </a:pPr>
            <a:r>
              <a:rPr lang="zh-CN" altLang="en-US" dirty="0" smtClean="0"/>
              <a:t>其中      表示页面文本特征项的第</a:t>
            </a:r>
            <a:r>
              <a:rPr lang="en-US" altLang="zh-CN" dirty="0" err="1" smtClean="0"/>
              <a:t>i</a:t>
            </a:r>
            <a:r>
              <a:rPr lang="zh-CN" altLang="en-US" dirty="0" smtClean="0"/>
              <a:t>项特征值，表示主题词集特征向量第</a:t>
            </a:r>
            <a:r>
              <a:rPr lang="en-US" altLang="zh-CN" dirty="0" err="1" smtClean="0"/>
              <a:t>i</a:t>
            </a:r>
            <a:r>
              <a:rPr lang="zh-CN" altLang="en-US" dirty="0" smtClean="0"/>
              <a:t>项特征值。 </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691469369"/>
              </p:ext>
            </p:extLst>
          </p:nvPr>
        </p:nvGraphicFramePr>
        <p:xfrm>
          <a:off x="4162283" y="2187837"/>
          <a:ext cx="4472080" cy="1783662"/>
        </p:xfrm>
        <a:graphic>
          <a:graphicData uri="http://schemas.openxmlformats.org/presentationml/2006/ole">
            <mc:AlternateContent xmlns:mc="http://schemas.openxmlformats.org/markup-compatibility/2006">
              <mc:Choice xmlns:v="urn:schemas-microsoft-com:vml" Requires="v">
                <p:oleObj spid="_x0000_s3099" name="Equation" r:id="rId3" imgW="2197080" imgH="876240" progId="Equation.DSMT4">
                  <p:embed/>
                </p:oleObj>
              </mc:Choice>
              <mc:Fallback>
                <p:oleObj name="Equation" r:id="rId3" imgW="2197080" imgH="876240" progId="Equation.DSMT4">
                  <p:embed/>
                  <p:pic>
                    <p:nvPicPr>
                      <p:cNvPr id="0" name=""/>
                      <p:cNvPicPr/>
                      <p:nvPr/>
                    </p:nvPicPr>
                    <p:blipFill>
                      <a:blip r:embed="rId4"/>
                      <a:stretch>
                        <a:fillRect/>
                      </a:stretch>
                    </p:blipFill>
                    <p:spPr>
                      <a:xfrm>
                        <a:off x="4162283" y="2187837"/>
                        <a:ext cx="4472080" cy="178366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69237075"/>
              </p:ext>
            </p:extLst>
          </p:nvPr>
        </p:nvGraphicFramePr>
        <p:xfrm>
          <a:off x="4781550" y="2347913"/>
          <a:ext cx="139700" cy="228600"/>
        </p:xfrm>
        <a:graphic>
          <a:graphicData uri="http://schemas.openxmlformats.org/presentationml/2006/ole">
            <mc:AlternateContent xmlns:mc="http://schemas.openxmlformats.org/markup-compatibility/2006">
              <mc:Choice xmlns:v="urn:schemas-microsoft-com:vml" Requires="v">
                <p:oleObj spid="_x0000_s3100" name="Equation" r:id="rId5" imgW="139680" imgH="228600" progId="Equation.DSMT4">
                  <p:embed/>
                </p:oleObj>
              </mc:Choice>
              <mc:Fallback>
                <p:oleObj name="Equation" r:id="rId5" imgW="139680" imgH="228600" progId="Equation.DSMT4">
                  <p:embed/>
                  <p:pic>
                    <p:nvPicPr>
                      <p:cNvPr id="0" name=""/>
                      <p:cNvPicPr/>
                      <p:nvPr/>
                    </p:nvPicPr>
                    <p:blipFill>
                      <a:blip r:embed="rId6"/>
                      <a:stretch>
                        <a:fillRect/>
                      </a:stretch>
                    </p:blipFill>
                    <p:spPr>
                      <a:xfrm>
                        <a:off x="4781550" y="2347913"/>
                        <a:ext cx="139700" cy="2286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矩形 5"/>
              <p:cNvSpPr/>
              <p:nvPr/>
            </p:nvSpPr>
            <p:spPr>
              <a:xfrm>
                <a:off x="1589115" y="4404394"/>
                <a:ext cx="5794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𝑤</m:t>
                      </m:r>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𝑖</m:t>
                          </m:r>
                        </m:sub>
                      </m:sSub>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1589115" y="4404394"/>
                <a:ext cx="579454" cy="369332"/>
              </a:xfrm>
              <a:prstGeom prst="rect">
                <a:avLst/>
              </a:prstGeom>
              <a:blipFill rotWithShape="0">
                <a:blip r:embed="rId7"/>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7582551" y="4404394"/>
                <a:ext cx="43883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sub>
                      </m:sSub>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7582551" y="4404394"/>
                <a:ext cx="438838" cy="369332"/>
              </a:xfrm>
              <a:prstGeom prst="rect">
                <a:avLst/>
              </a:prstGeom>
              <a:blipFill rotWithShape="0">
                <a:blip r:embed="rId8"/>
                <a:stretch>
                  <a:fillRect b="-1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28270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smtClean="0"/>
              <a:t>基于向量空间模型的不足</a:t>
            </a:r>
            <a:endParaRPr lang="zh-CN" altLang="en-US" dirty="0"/>
          </a:p>
        </p:txBody>
      </p:sp>
      <p:sp>
        <p:nvSpPr>
          <p:cNvPr id="3" name="内容占位符 2"/>
          <p:cNvSpPr>
            <a:spLocks noGrp="1"/>
          </p:cNvSpPr>
          <p:nvPr>
            <p:ph idx="1"/>
          </p:nvPr>
        </p:nvSpPr>
        <p:spPr/>
        <p:txBody>
          <a:bodyPr/>
          <a:lstStyle/>
          <a:p>
            <a:r>
              <a:rPr lang="zh-CN" altLang="en-US" dirty="0" smtClean="0"/>
              <a:t>基于向量空间模型算法的最大优点是将页面的文本数据转换成计</a:t>
            </a:r>
            <a:endParaRPr lang="en-US" altLang="zh-CN" dirty="0" smtClean="0"/>
          </a:p>
          <a:p>
            <a:pPr marL="0" indent="0">
              <a:buNone/>
            </a:pPr>
            <a:r>
              <a:rPr lang="zh-CN" altLang="en-US" dirty="0" smtClean="0"/>
              <a:t>算机可以处理的结构化数据，页面和主题词之间的相似性问题转</a:t>
            </a:r>
            <a:endParaRPr lang="en-US" altLang="zh-CN" dirty="0" smtClean="0"/>
          </a:p>
          <a:p>
            <a:pPr marL="0" indent="0">
              <a:buNone/>
            </a:pPr>
            <a:r>
              <a:rPr lang="zh-CN" altLang="en-US" dirty="0" smtClean="0"/>
              <a:t>换成两个向量之间的相似性问题，计算更加简单。但是这种方法只</a:t>
            </a:r>
            <a:endParaRPr lang="en-US" altLang="zh-CN" dirty="0" smtClean="0"/>
          </a:p>
          <a:p>
            <a:pPr marL="0" indent="0">
              <a:buNone/>
            </a:pPr>
            <a:r>
              <a:rPr lang="zh-CN" altLang="en-US" dirty="0" smtClean="0"/>
              <a:t>考虑了关键词出现的频率即次数，但是没有考虑一词多义的问题，</a:t>
            </a:r>
            <a:endParaRPr lang="en-US" altLang="zh-CN" dirty="0" smtClean="0"/>
          </a:p>
          <a:p>
            <a:pPr marL="0" indent="0">
              <a:buNone/>
            </a:pPr>
            <a:r>
              <a:rPr lang="zh-CN" altLang="en-US" dirty="0" smtClean="0"/>
              <a:t>没有从语义层次上考虑特征词后面的概念之间的语义关系，会造成</a:t>
            </a:r>
            <a:endParaRPr lang="en-US" altLang="zh-CN" dirty="0" smtClean="0"/>
          </a:p>
          <a:p>
            <a:pPr marL="0" indent="0">
              <a:buNone/>
            </a:pPr>
            <a:r>
              <a:rPr lang="zh-CN" altLang="en-US" dirty="0" smtClean="0"/>
              <a:t>同义词或多义词对相关度的干扰。</a:t>
            </a:r>
            <a:endParaRPr lang="zh-CN" altLang="en-US" dirty="0"/>
          </a:p>
        </p:txBody>
      </p:sp>
    </p:spTree>
    <p:extLst>
      <p:ext uri="{BB962C8B-B14F-4D97-AF65-F5344CB8AC3E}">
        <p14:creationId xmlns:p14="http://schemas.microsoft.com/office/powerpoint/2010/main" val="2694679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smtClean="0"/>
              <a:t>基于语义的主题相关度计算</a:t>
            </a:r>
            <a:endParaRPr lang="zh-CN" altLang="en-US" dirty="0"/>
          </a:p>
        </p:txBody>
      </p:sp>
      <p:sp>
        <p:nvSpPr>
          <p:cNvPr id="3" name="内容占位符 2"/>
          <p:cNvSpPr>
            <a:spLocks noGrp="1"/>
          </p:cNvSpPr>
          <p:nvPr>
            <p:ph idx="1"/>
          </p:nvPr>
        </p:nvSpPr>
        <p:spPr>
          <a:xfrm>
            <a:off x="1384111" y="1607260"/>
            <a:ext cx="8114731" cy="4351338"/>
          </a:xfrm>
        </p:spPr>
        <p:txBody>
          <a:bodyPr/>
          <a:lstStyle/>
          <a:p>
            <a:pPr marL="0" indent="0">
              <a:buNone/>
            </a:pPr>
            <a:r>
              <a:rPr lang="zh-CN" altLang="en-US" dirty="0" smtClean="0"/>
              <a:t>针对向量空间模型的不足，基于领域本体的相关度</a:t>
            </a:r>
            <a:endParaRPr lang="en-US" altLang="zh-CN" dirty="0" smtClean="0"/>
          </a:p>
          <a:p>
            <a:pPr marL="0" indent="0">
              <a:buNone/>
            </a:pPr>
            <a:r>
              <a:rPr lang="zh-CN" altLang="en-US" dirty="0" smtClean="0"/>
              <a:t>计算方法，在计算主题相关度时，将本体应用到了</a:t>
            </a:r>
            <a:endParaRPr lang="en-US" altLang="zh-CN" dirty="0" smtClean="0"/>
          </a:p>
          <a:p>
            <a:pPr marL="0" indent="0">
              <a:buNone/>
            </a:pPr>
            <a:r>
              <a:rPr lang="zh-CN" altLang="en-US" dirty="0" smtClean="0"/>
              <a:t>向量空间模型中特征词权重的计算中，解决了传统</a:t>
            </a:r>
            <a:endParaRPr lang="en-US" altLang="zh-CN" dirty="0" smtClean="0"/>
          </a:p>
          <a:p>
            <a:pPr marL="0" indent="0">
              <a:buNone/>
            </a:pPr>
            <a:r>
              <a:rPr lang="zh-CN" altLang="en-US" dirty="0" smtClean="0"/>
              <a:t>的向量空间模型在语义方面的欠缺。</a:t>
            </a:r>
            <a:endParaRPr lang="zh-CN" altLang="en-US" dirty="0"/>
          </a:p>
        </p:txBody>
      </p:sp>
    </p:spTree>
    <p:extLst>
      <p:ext uri="{BB962C8B-B14F-4D97-AF65-F5344CB8AC3E}">
        <p14:creationId xmlns:p14="http://schemas.microsoft.com/office/powerpoint/2010/main" val="943954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normAutofit/>
          </a:bodyPr>
          <a:lstStyle/>
          <a:p>
            <a:r>
              <a:rPr lang="zh-CN" altLang="en-US" sz="3200" dirty="0"/>
              <a:t>基于本体的主题相关度计算</a:t>
            </a:r>
            <a:r>
              <a:rPr lang="en-US" altLang="zh-CN" sz="3200" dirty="0"/>
              <a:t>—</a:t>
            </a:r>
            <a:r>
              <a:rPr lang="zh-CN" altLang="en-US" sz="3200" dirty="0"/>
              <a:t>确定主题概念</a:t>
            </a:r>
          </a:p>
        </p:txBody>
      </p:sp>
      <p:sp>
        <p:nvSpPr>
          <p:cNvPr id="3" name="内容占位符 2"/>
          <p:cNvSpPr>
            <a:spLocks noGrp="1"/>
          </p:cNvSpPr>
          <p:nvPr>
            <p:ph idx="1"/>
          </p:nvPr>
        </p:nvSpPr>
        <p:spPr>
          <a:xfrm>
            <a:off x="477672" y="1325563"/>
            <a:ext cx="10876128" cy="5375488"/>
          </a:xfrm>
        </p:spPr>
        <p:txBody>
          <a:bodyPr>
            <a:normAutofit/>
          </a:bodyPr>
          <a:lstStyle/>
          <a:p>
            <a:pPr marL="0" indent="0">
              <a:buNone/>
            </a:pPr>
            <a:r>
              <a:rPr lang="zh-CN" altLang="en-US" dirty="0" smtClean="0"/>
              <a:t>首先根据本体概念间语义相关度确定主题概念并计算权值</a:t>
            </a:r>
            <a:endParaRPr lang="en-US" altLang="zh-CN" dirty="0" smtClean="0"/>
          </a:p>
          <a:p>
            <a:pPr marL="0" indent="0">
              <a:buNone/>
            </a:pPr>
            <a:r>
              <a:rPr lang="zh-CN" altLang="en-US" dirty="0" smtClean="0"/>
              <a:t>本体用图</a:t>
            </a:r>
            <a:r>
              <a:rPr lang="en-US" altLang="zh-CN" dirty="0" smtClean="0"/>
              <a:t>G=(V,E)</a:t>
            </a:r>
            <a:r>
              <a:rPr lang="zh-CN" altLang="en-US" dirty="0" smtClean="0"/>
              <a:t>表示，</a:t>
            </a:r>
            <a:r>
              <a:rPr lang="en-US" altLang="zh-CN" dirty="0" smtClean="0"/>
              <a:t>V</a:t>
            </a:r>
            <a:r>
              <a:rPr lang="zh-CN" altLang="en-US" dirty="0" smtClean="0"/>
              <a:t>表示概念，</a:t>
            </a:r>
            <a:r>
              <a:rPr lang="en-US" altLang="zh-CN" dirty="0" smtClean="0"/>
              <a:t>E</a:t>
            </a:r>
            <a:r>
              <a:rPr lang="zh-CN" altLang="en-US" dirty="0" smtClean="0"/>
              <a:t>表示概念之间的语义关系，边</a:t>
            </a:r>
            <a:endParaRPr lang="en-US" altLang="zh-CN" dirty="0" smtClean="0"/>
          </a:p>
          <a:p>
            <a:pPr marL="0" indent="0">
              <a:buNone/>
            </a:pPr>
            <a:endParaRPr lang="en-US" altLang="zh-CN" dirty="0"/>
          </a:p>
          <a:p>
            <a:pPr marL="0" indent="0">
              <a:buNone/>
            </a:pPr>
            <a:r>
              <a:rPr lang="zh-CN" altLang="en-US" dirty="0" smtClean="0"/>
              <a:t>的权重表示为                               且在本体中两概念之间最短边数越</a:t>
            </a:r>
            <a:endParaRPr lang="en-US" altLang="zh-CN" dirty="0" smtClean="0"/>
          </a:p>
          <a:p>
            <a:pPr marL="0" indent="0">
              <a:buNone/>
            </a:pPr>
            <a:endParaRPr lang="en-US" altLang="zh-CN" dirty="0" smtClean="0"/>
          </a:p>
          <a:p>
            <a:pPr marL="0" indent="0">
              <a:buNone/>
            </a:pPr>
            <a:r>
              <a:rPr lang="zh-CN" altLang="en-US" dirty="0" smtClean="0"/>
              <a:t>多，其语义相差越大。于是本体中概念   与</a:t>
            </a:r>
            <a:r>
              <a:rPr lang="en-US" altLang="zh-CN" dirty="0"/>
              <a:t> </a:t>
            </a:r>
            <a:r>
              <a:rPr lang="en-US" altLang="zh-CN" dirty="0" smtClean="0"/>
              <a:t>  </a:t>
            </a:r>
            <a:r>
              <a:rPr lang="zh-CN" altLang="en-US" dirty="0" smtClean="0"/>
              <a:t>之间的语义相关度表</a:t>
            </a:r>
            <a:endParaRPr lang="en-US" altLang="zh-CN" dirty="0" smtClean="0"/>
          </a:p>
          <a:p>
            <a:pPr marL="0" indent="0">
              <a:buNone/>
            </a:pPr>
            <a:r>
              <a:rPr lang="zh-CN" altLang="en-US" dirty="0" smtClean="0"/>
              <a:t>示为</a:t>
            </a:r>
            <a:r>
              <a:rPr lang="en-US" altLang="zh-CN" dirty="0" smtClean="0"/>
              <a:t>:                                                     </a:t>
            </a:r>
            <a:r>
              <a:rPr lang="zh-CN" altLang="en-US" dirty="0" smtClean="0"/>
              <a:t>其中              表示本体中两个概念</a:t>
            </a:r>
            <a:endParaRPr lang="en-US" altLang="zh-CN" dirty="0"/>
          </a:p>
          <a:p>
            <a:pPr marL="0" indent="0">
              <a:buNone/>
            </a:pPr>
            <a:endParaRPr lang="en-US" altLang="zh-CN" dirty="0"/>
          </a:p>
          <a:p>
            <a:pPr marL="0" indent="0">
              <a:buNone/>
            </a:pPr>
            <a:r>
              <a:rPr lang="zh-CN" altLang="en-US" dirty="0" smtClean="0"/>
              <a:t>间边数最短的路径上边的条数，当</a:t>
            </a:r>
            <a:r>
              <a:rPr lang="en-US" altLang="zh-CN" dirty="0" err="1" smtClean="0"/>
              <a:t>i</a:t>
            </a:r>
            <a:r>
              <a:rPr lang="en-US" altLang="zh-CN" dirty="0" smtClean="0"/>
              <a:t>=j </a:t>
            </a:r>
            <a:r>
              <a:rPr lang="zh-CN" altLang="en-US" dirty="0" smtClean="0"/>
              <a:t>时，</a:t>
            </a:r>
            <a:r>
              <a:rPr lang="en-US" altLang="zh-CN" dirty="0" smtClean="0"/>
              <a:t>                 </a:t>
            </a:r>
            <a:r>
              <a:rPr lang="zh-CN" altLang="en-US" dirty="0" smtClean="0"/>
              <a:t>，</a:t>
            </a:r>
            <a:r>
              <a:rPr lang="en-US" altLang="zh-CN" dirty="0" smtClean="0"/>
              <a:t>                         </a:t>
            </a:r>
            <a:r>
              <a:rPr lang="zh-CN" altLang="en-US" dirty="0" smtClean="0"/>
              <a:t>，  是一个可调节的系数。</a:t>
            </a: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2285621" y="2619073"/>
                <a:ext cx="3398292" cy="9766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1,</m:t>
                                </m:r>
                                <m:r>
                                  <a:rPr lang="zh-CN" altLang="en-US" i="0">
                                    <a:latin typeface="Cambria Math" panose="02040503050406030204" pitchFamily="18" charset="0"/>
                                  </a:rPr>
                                  <m:t>同义关系</m:t>
                                </m:r>
                              </m:e>
                            </m:mr>
                            <m:mr>
                              <m:e>
                                <m:r>
                                  <a:rPr lang="zh-CN" altLang="en-US" i="0">
                                    <a:latin typeface="Cambria Math" panose="02040503050406030204" pitchFamily="18" charset="0"/>
                                  </a:rPr>
                                  <m:t>0.8,</m:t>
                                </m:r>
                                <m:r>
                                  <a:rPr lang="zh-CN" altLang="en-US" i="0">
                                    <a:latin typeface="Cambria Math" panose="02040503050406030204" pitchFamily="18" charset="0"/>
                                  </a:rPr>
                                  <m:t>继承关系</m:t>
                                </m:r>
                              </m:e>
                            </m:mr>
                            <m:mr>
                              <m:e>
                                <m:r>
                                  <m:rPr>
                                    <m:nor/>
                                  </m:rPr>
                                  <a:rPr lang="zh-CN" altLang="en-US" i="1">
                                    <a:latin typeface="Cambria Math" panose="02040503050406030204" pitchFamily="18" charset="0"/>
                                  </a:rPr>
                                  <m:t>0.6</m:t>
                                </m:r>
                                <m:r>
                                  <a:rPr lang="zh-CN" altLang="en-US" i="0">
                                    <a:latin typeface="Cambria Math" panose="02040503050406030204" pitchFamily="18" charset="0"/>
                                  </a:rPr>
                                  <m:t>，属性关系</m:t>
                                </m:r>
                              </m:e>
                            </m:mr>
                          </m:m>
                        </m:e>
                      </m:d>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2285621" y="2619073"/>
                <a:ext cx="3398292" cy="976614"/>
              </a:xfrm>
              <a:prstGeom prst="rect">
                <a:avLst/>
              </a:prstGeom>
              <a:blipFill rotWithShape="0">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6559747" y="3838946"/>
                <a:ext cx="523439" cy="369332"/>
              </a:xfrm>
              <a:prstGeom prst="rect">
                <a:avLst/>
              </a:prstGeom>
            </p:spPr>
            <p:txBody>
              <a:bodyPr wrap="square">
                <a:spAutoFit/>
              </a:bodyPr>
              <a:lstStyle/>
              <a:p>
                <a14:m>
                  <m:oMath xmlns:m="http://schemas.openxmlformats.org/officeDocument/2006/math">
                    <m:sSub>
                      <m:sSubPr>
                        <m:ctrlPr>
                          <a:rPr lang="zh-CN" altLang="en-US" i="1" smtClean="0">
                            <a:latin typeface="Cambria Math" panose="02040503050406030204" pitchFamily="18" charset="0"/>
                          </a:rPr>
                        </m:ctrlPr>
                      </m:sSubPr>
                      <m:e>
                        <m:r>
                          <m:rPr>
                            <m:nor/>
                          </m:rPr>
                          <a:rPr lang="zh-CN" altLang="en-US"/>
                          <m:t>c</m:t>
                        </m:r>
                      </m:e>
                      <m:sub>
                        <m:r>
                          <a:rPr lang="zh-CN" altLang="en-US" i="1">
                            <a:latin typeface="Cambria Math" panose="02040503050406030204" pitchFamily="18" charset="0"/>
                          </a:rPr>
                          <m:t>𝑖</m:t>
                        </m:r>
                      </m:sub>
                    </m:sSub>
                  </m:oMath>
                </a14:m>
                <a:r>
                  <a:rPr lang="zh-CN" altLang="en-US" dirty="0" smtClean="0"/>
                  <a:t>  </a:t>
                </a:r>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6559747" y="3838946"/>
                <a:ext cx="523439" cy="369332"/>
              </a:xfrm>
              <a:prstGeom prst="rect">
                <a:avLst/>
              </a:prstGeom>
              <a:blipFill rotWithShape="0">
                <a:blip r:embed="rId3"/>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7152156" y="3838946"/>
                <a:ext cx="408702"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m:rPr>
                              <m:nor/>
                            </m:rPr>
                            <a:rPr lang="zh-CN" altLang="en-US"/>
                            <m:t>c</m:t>
                          </m:r>
                        </m:e>
                        <m:sub>
                          <m:r>
                            <a:rPr lang="zh-CN" altLang="en-US" i="1">
                              <a:latin typeface="Cambria Math" panose="02040503050406030204" pitchFamily="18" charset="0"/>
                            </a:rPr>
                            <m:t>𝑗</m:t>
                          </m:r>
                        </m:sub>
                      </m:sSub>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7152156" y="3838946"/>
                <a:ext cx="408702" cy="391646"/>
              </a:xfrm>
              <a:prstGeom prst="rect">
                <a:avLst/>
              </a:prstGeom>
              <a:blipFill rotWithShape="0">
                <a:blip r:embed="rId4"/>
                <a:stretch>
                  <a:fillRect b="-78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549414" y="4312157"/>
                <a:ext cx="3708386" cy="7702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𝑠𝑖𝑚</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𝑗</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d>
                            <m:dPr>
                              <m:begChr m:val=""/>
                              <m:ctrlPr>
                                <a:rPr lang="zh-CN" altLang="en-US" i="1">
                                  <a:latin typeface="Cambria Math" panose="02040503050406030204" pitchFamily="18" charset="0"/>
                                </a:rPr>
                              </m:ctrlPr>
                            </m:dPr>
                            <m:e>
                              <m:r>
                                <a:rPr lang="zh-CN" altLang="en-US" i="0">
                                  <a:latin typeface="Cambria Math" panose="02040503050406030204" pitchFamily="18" charset="0"/>
                                </a:rPr>
                                <m:t>𝜕</m:t>
                              </m:r>
                              <m:r>
                                <a:rPr lang="zh-CN" altLang="en-US" i="0">
                                  <a:latin typeface="Cambria Math" panose="02040503050406030204" pitchFamily="18" charset="0"/>
                                </a:rPr>
                                <m:t>+</m:t>
                              </m:r>
                              <m:r>
                                <a:rPr lang="zh-CN" altLang="en-US" i="1">
                                  <a:latin typeface="Cambria Math" panose="02040503050406030204" pitchFamily="18" charset="0"/>
                                </a:rPr>
                                <m:t>𝑤𝑒𝑖𝑔h𝑡</m:t>
                              </m:r>
                              <m:r>
                                <m:rPr>
                                  <m:lit/>
                                </m:rPr>
                                <a:rPr lang="zh-CN" altLang="en-US" i="0">
                                  <a:latin typeface="Cambria Math" panose="02040503050406030204" pitchFamily="18" charset="0"/>
                                </a:rPr>
                                <m:t>_</m:t>
                              </m:r>
                              <m:r>
                                <a:rPr lang="zh-CN" altLang="en-US" i="1">
                                  <a:latin typeface="Cambria Math" panose="02040503050406030204" pitchFamily="18" charset="0"/>
                                </a:rPr>
                                <m:t>𝑑𝑖𝑠</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𝑗</m:t>
                                  </m:r>
                                </m:sub>
                              </m:sSub>
                            </m:e>
                          </m:d>
                        </m:num>
                        <m:den>
                          <m:d>
                            <m:dPr>
                              <m:begChr m:val=""/>
                              <m:ctrlPr>
                                <a:rPr lang="zh-CN" altLang="en-US" i="1">
                                  <a:latin typeface="Cambria Math" panose="02040503050406030204" pitchFamily="18" charset="0"/>
                                </a:rPr>
                              </m:ctrlPr>
                            </m:dPr>
                            <m:e>
                              <m:r>
                                <a:rPr lang="zh-CN" altLang="en-US" i="0">
                                  <a:latin typeface="Cambria Math" panose="02040503050406030204" pitchFamily="18" charset="0"/>
                                </a:rPr>
                                <m:t>𝜕</m:t>
                              </m:r>
                              <m:r>
                                <a:rPr lang="zh-CN" altLang="en-US" i="0">
                                  <a:latin typeface="Cambria Math" panose="02040503050406030204" pitchFamily="18" charset="0"/>
                                </a:rPr>
                                <m:t>+</m:t>
                              </m:r>
                              <m:r>
                                <a:rPr lang="zh-CN" altLang="en-US" i="1">
                                  <a:latin typeface="Cambria Math" panose="02040503050406030204" pitchFamily="18" charset="0"/>
                                </a:rPr>
                                <m:t>𝑑𝑖𝑠</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𝑗</m:t>
                                  </m:r>
                                </m:sub>
                              </m:sSub>
                            </m:e>
                          </m:d>
                        </m:den>
                      </m:f>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1549414" y="4312157"/>
                <a:ext cx="3708386" cy="770275"/>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6369634" y="4491596"/>
                <a:ext cx="1191224" cy="4113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𝑑𝑖𝑠</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𝑗</m:t>
                              </m:r>
                            </m:sub>
                          </m:sSub>
                        </m:e>
                      </m:d>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6369634" y="4491596"/>
                <a:ext cx="1191224" cy="411395"/>
              </a:xfrm>
              <a:prstGeom prst="rect">
                <a:avLst/>
              </a:prstGeom>
              <a:blipFill rotWithShape="0">
                <a:blip r:embed="rId6"/>
                <a:stretch>
                  <a:fillRect t="-153731" r="-53333" b="-2283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6871231" y="5390625"/>
                <a:ext cx="1370760" cy="411395"/>
              </a:xfrm>
              <a:prstGeom prst="rect">
                <a:avLst/>
              </a:prstGeom>
            </p:spPr>
            <p:txBody>
              <a:bodyPr wrap="none">
                <a:spAutoFit/>
              </a:bodyPr>
              <a:lstStyle/>
              <a:p>
                <a14:m>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𝑑𝑖𝑠</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𝑗</m:t>
                            </m:r>
                          </m:sub>
                        </m:sSub>
                      </m:e>
                    </m:d>
                  </m:oMath>
                </a14:m>
                <a:r>
                  <a:rPr lang="en-US" altLang="zh-CN" dirty="0" smtClean="0"/>
                  <a:t>=0</a:t>
                </a:r>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6871231" y="5390625"/>
                <a:ext cx="1370760" cy="411395"/>
              </a:xfrm>
              <a:prstGeom prst="rect">
                <a:avLst/>
              </a:prstGeom>
              <a:blipFill rotWithShape="0">
                <a:blip r:embed="rId7"/>
                <a:stretch>
                  <a:fillRect t="-151471" r="-31111" b="-2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8576665" y="5352962"/>
                <a:ext cx="2179507" cy="411395"/>
              </a:xfrm>
              <a:prstGeom prst="rect">
                <a:avLst/>
              </a:prstGeom>
            </p:spPr>
            <p:txBody>
              <a:bodyPr wrap="none">
                <a:spAutoFit/>
              </a:bodyPr>
              <a:lstStyle/>
              <a:p>
                <a14:m>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𝑤𝑒𝑖𝑔h𝑡</m:t>
                        </m:r>
                        <m:r>
                          <m:rPr>
                            <m:lit/>
                          </m:rPr>
                          <a:rPr lang="zh-CN" altLang="en-US" i="0">
                            <a:latin typeface="Cambria Math" panose="02040503050406030204" pitchFamily="18" charset="0"/>
                          </a:rPr>
                          <m:t>_</m:t>
                        </m:r>
                        <m:r>
                          <a:rPr lang="zh-CN" altLang="en-US" i="1">
                            <a:latin typeface="Cambria Math" panose="02040503050406030204" pitchFamily="18" charset="0"/>
                          </a:rPr>
                          <m:t>𝑑𝑖𝑠</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𝑗</m:t>
                            </m:r>
                          </m:sub>
                        </m:sSub>
                      </m:e>
                    </m:d>
                  </m:oMath>
                </a14:m>
                <a:r>
                  <a:rPr lang="en-US" altLang="zh-CN" dirty="0" smtClean="0"/>
                  <a:t>=0</a:t>
                </a:r>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8576665" y="5352962"/>
                <a:ext cx="2179507" cy="411395"/>
              </a:xfrm>
              <a:prstGeom prst="rect">
                <a:avLst/>
              </a:prstGeom>
              <a:blipFill rotWithShape="0">
                <a:blip r:embed="rId8"/>
                <a:stretch>
                  <a:fillRect l="-840" t="-151471" r="-19048" b="-2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0997456" y="5395025"/>
                <a:ext cx="36259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10997456" y="5395025"/>
                <a:ext cx="362599" cy="369332"/>
              </a:xfrm>
              <a:prstGeom prst="rect">
                <a:avLst/>
              </a:prstGeom>
              <a:blipFill rotWithShape="0">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4295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normAutofit/>
          </a:bodyPr>
          <a:lstStyle/>
          <a:p>
            <a:r>
              <a:rPr lang="zh-CN" altLang="en-US" sz="3600" dirty="0"/>
              <a:t>基于本体的主题相关度</a:t>
            </a:r>
            <a:r>
              <a:rPr lang="zh-CN" altLang="en-US" sz="3600" dirty="0" smtClean="0"/>
              <a:t>计算</a:t>
            </a:r>
            <a:r>
              <a:rPr lang="en-US" altLang="zh-CN" sz="3600" dirty="0" smtClean="0"/>
              <a:t>—</a:t>
            </a:r>
            <a:r>
              <a:rPr lang="zh-CN" altLang="en-US" sz="3600" dirty="0" smtClean="0"/>
              <a:t>确定主题概念</a:t>
            </a:r>
            <a:endParaRPr lang="zh-CN" altLang="en-US" sz="3600" dirty="0"/>
          </a:p>
        </p:txBody>
      </p:sp>
      <p:sp>
        <p:nvSpPr>
          <p:cNvPr id="3" name="内容占位符 2"/>
          <p:cNvSpPr>
            <a:spLocks noGrp="1"/>
          </p:cNvSpPr>
          <p:nvPr>
            <p:ph idx="1"/>
          </p:nvPr>
        </p:nvSpPr>
        <p:spPr>
          <a:xfrm>
            <a:off x="0" y="1325562"/>
            <a:ext cx="12192000" cy="5532437"/>
          </a:xfrm>
        </p:spPr>
        <p:txBody>
          <a:bodyPr/>
          <a:lstStyle/>
          <a:p>
            <a:pPr marL="0" indent="0">
              <a:buNone/>
            </a:pPr>
            <a:r>
              <a:rPr lang="zh-CN" altLang="en-US" dirty="0" smtClean="0"/>
              <a:t>根据本体中两个概念的语义相关度，可以得到每个概念与其他所有</a:t>
            </a:r>
            <a:endParaRPr lang="en-US" altLang="zh-CN" dirty="0" smtClean="0"/>
          </a:p>
          <a:p>
            <a:pPr marL="0" indent="0">
              <a:buNone/>
            </a:pPr>
            <a:r>
              <a:rPr lang="zh-CN" altLang="en-US" dirty="0" smtClean="0"/>
              <a:t>概念的综合相关度。计算方法为：                         ，其中</a:t>
            </a:r>
            <a:r>
              <a:rPr lang="en-US" altLang="zh-CN" dirty="0" err="1" smtClean="0"/>
              <a:t>ti</a:t>
            </a:r>
            <a:r>
              <a:rPr lang="zh-CN" altLang="en-US" dirty="0" smtClean="0"/>
              <a:t>表示</a:t>
            </a:r>
            <a:r>
              <a:rPr lang="en-US" altLang="zh-CN" dirty="0" smtClean="0"/>
              <a:t>ci</a:t>
            </a:r>
            <a:r>
              <a:rPr lang="zh-CN" altLang="en-US" dirty="0" smtClean="0"/>
              <a:t>的综</a:t>
            </a:r>
            <a:endParaRPr lang="en-US" altLang="zh-CN" dirty="0" smtClean="0"/>
          </a:p>
          <a:p>
            <a:pPr marL="0" indent="0">
              <a:buNone/>
            </a:pPr>
            <a:r>
              <a:rPr lang="zh-CN" altLang="en-US" dirty="0" smtClean="0"/>
              <a:t>合相关度，</a:t>
            </a:r>
            <a:r>
              <a:rPr lang="en-US" altLang="zh-CN" dirty="0" smtClean="0"/>
              <a:t>n</a:t>
            </a:r>
            <a:r>
              <a:rPr lang="zh-CN" altLang="en-US" dirty="0" smtClean="0"/>
              <a:t>为本体中概念的总数，</a:t>
            </a:r>
            <a:r>
              <a:rPr lang="en-US" altLang="zh-CN" dirty="0" smtClean="0"/>
              <a:t>a</a:t>
            </a:r>
            <a:r>
              <a:rPr lang="zh-CN" altLang="en-US" dirty="0" smtClean="0"/>
              <a:t>为可调节的系数</a:t>
            </a:r>
            <a:r>
              <a:rPr lang="zh-CN" altLang="en-US" dirty="0" smtClean="0"/>
              <a:t>。</a:t>
            </a:r>
            <a:endParaRPr lang="en-US" altLang="zh-CN" dirty="0" smtClean="0"/>
          </a:p>
          <a:p>
            <a:pPr marL="0" indent="0">
              <a:buNone/>
            </a:pPr>
            <a:endParaRPr lang="en-US" altLang="zh-CN" dirty="0"/>
          </a:p>
          <a:p>
            <a:pPr marL="0" indent="0">
              <a:buNone/>
            </a:pPr>
            <a:endParaRPr lang="en-US" altLang="zh-CN" dirty="0" smtClean="0"/>
          </a:p>
          <a:p>
            <a:pPr marL="0" indent="0">
              <a:buNone/>
            </a:pPr>
            <a:r>
              <a:rPr lang="zh-CN" altLang="en-US" dirty="0" smtClean="0"/>
              <a:t>而</a:t>
            </a:r>
            <a:r>
              <a:rPr lang="zh-CN" altLang="en-US" dirty="0" smtClean="0"/>
              <a:t>概念的综合相关度可以反应出该概念与本体所刻画的主题的相关程度，当该值超过一定阀值可以认为该概念可以作为这个领域主题的主题概念。从而可以得到主题概念集</a:t>
            </a:r>
            <a:endParaRPr lang="en-US" altLang="zh-CN" dirty="0" smtClean="0"/>
          </a:p>
          <a:p>
            <a:pPr marL="0" indent="0">
              <a:buNone/>
            </a:pPr>
            <a:r>
              <a:rPr lang="zh-CN" altLang="en-US" dirty="0" smtClean="0"/>
              <a:t>合                                               </a:t>
            </a:r>
            <a:r>
              <a:rPr lang="zh-CN" altLang="en-US" dirty="0" smtClean="0"/>
              <a:t>，</a:t>
            </a:r>
            <a:r>
              <a:rPr lang="en-US" altLang="zh-CN" dirty="0"/>
              <a:t>C</a:t>
            </a:r>
            <a:r>
              <a:rPr lang="zh-CN" altLang="en-US" dirty="0" smtClean="0"/>
              <a:t>为</a:t>
            </a:r>
            <a:r>
              <a:rPr lang="zh-CN" altLang="en-US" dirty="0" smtClean="0"/>
              <a:t>本体中的概念集合，</a:t>
            </a:r>
            <a:r>
              <a:rPr lang="en-US" altLang="zh-CN" dirty="0" smtClean="0"/>
              <a:t>v</a:t>
            </a:r>
            <a:r>
              <a:rPr lang="zh-CN" altLang="en-US" dirty="0" smtClean="0"/>
              <a:t>为一个阀值。</a:t>
            </a:r>
            <a:endParaRPr lang="en-US" altLang="zh-CN" dirty="0" smtClean="0"/>
          </a:p>
          <a:p>
            <a:pPr marL="0" indent="0">
              <a:buNone/>
            </a:pP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5257800" y="1610941"/>
                <a:ext cx="2253822" cy="8485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𝑡</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𝑎</m:t>
                          </m:r>
                        </m:num>
                        <m:den>
                          <m:r>
                            <a:rPr lang="zh-CN" altLang="en-US" i="1">
                              <a:latin typeface="Cambria Math" panose="02040503050406030204" pitchFamily="18" charset="0"/>
                            </a:rPr>
                            <m:t>𝑛</m:t>
                          </m:r>
                        </m:den>
                      </m:f>
                      <m:nary>
                        <m:naryPr>
                          <m:chr m:val="∑"/>
                          <m:limLoc m:val="undOvr"/>
                          <m:grow m:val="on"/>
                          <m:ctrlPr>
                            <a:rPr lang="zh-CN" altLang="en-US" i="1">
                              <a:latin typeface="Cambria Math" panose="02040503050406030204" pitchFamily="18" charset="0"/>
                            </a:rPr>
                          </m:ctrlPr>
                        </m:naryPr>
                        <m:sub>
                          <m:r>
                            <a:rPr lang="zh-CN" altLang="en-US" i="1">
                              <a:latin typeface="Cambria Math" panose="02040503050406030204" pitchFamily="18" charset="0"/>
                            </a:rPr>
                            <m:t>𝑘</m:t>
                          </m:r>
                          <m:r>
                            <a:rPr lang="zh-CN" altLang="en-US" i="0">
                              <a:latin typeface="Cambria Math" panose="02040503050406030204" pitchFamily="18" charset="0"/>
                            </a:rPr>
                            <m:t>=1</m:t>
                          </m:r>
                        </m:sub>
                        <m:sup>
                          <m:r>
                            <a:rPr lang="zh-CN" altLang="en-US" i="1">
                              <a:latin typeface="Cambria Math" panose="02040503050406030204" pitchFamily="18" charset="0"/>
                            </a:rPr>
                            <m:t>𝑛</m:t>
                          </m:r>
                        </m:sup>
                        <m:e>
                          <m:d>
                            <m:dPr>
                              <m:begChr m:val=""/>
                              <m:ctrlPr>
                                <a:rPr lang="zh-CN" altLang="en-US" i="1">
                                  <a:latin typeface="Cambria Math" panose="02040503050406030204" pitchFamily="18" charset="0"/>
                                </a:rPr>
                              </m:ctrlPr>
                            </m:dPr>
                            <m:e>
                              <m:r>
                                <a:rPr lang="zh-CN" altLang="en-US" i="1">
                                  <a:latin typeface="Cambria Math" panose="02040503050406030204" pitchFamily="18" charset="0"/>
                                </a:rPr>
                                <m:t>𝑠𝑖𝑚</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d>
                        </m:e>
                      </m:nary>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5257800" y="1610941"/>
                <a:ext cx="2253822" cy="848502"/>
              </a:xfrm>
              <a:prstGeom prst="rect">
                <a:avLst/>
              </a:prstGeom>
              <a:blipFill rotWithShape="0">
                <a:blip r:embed="rId3"/>
                <a:stretch>
                  <a:fillRect/>
                </a:stretch>
              </a:blipFill>
            </p:spPr>
            <p:txBody>
              <a:bodyPr/>
              <a:lstStyle/>
              <a:p>
                <a:r>
                  <a:rPr lang="zh-CN" altLang="en-US">
                    <a:noFill/>
                  </a:rPr>
                  <a:t> </a:t>
                </a:r>
              </a:p>
            </p:txBody>
          </p:sp>
        </mc:Fallback>
      </mc:AlternateContent>
      <p:graphicFrame>
        <p:nvGraphicFramePr>
          <p:cNvPr id="6" name="对象 5"/>
          <p:cNvGraphicFramePr>
            <a:graphicFrameLocks noChangeAspect="1"/>
          </p:cNvGraphicFramePr>
          <p:nvPr>
            <p:extLst>
              <p:ext uri="{D42A27DB-BD31-4B8C-83A1-F6EECF244321}">
                <p14:modId xmlns:p14="http://schemas.microsoft.com/office/powerpoint/2010/main" val="2715956847"/>
              </p:ext>
            </p:extLst>
          </p:nvPr>
        </p:nvGraphicFramePr>
        <p:xfrm>
          <a:off x="666371" y="5020965"/>
          <a:ext cx="3567841" cy="642855"/>
        </p:xfrm>
        <a:graphic>
          <a:graphicData uri="http://schemas.openxmlformats.org/presentationml/2006/ole">
            <mc:AlternateContent xmlns:mc="http://schemas.openxmlformats.org/markup-compatibility/2006">
              <mc:Choice xmlns:v="urn:schemas-microsoft-com:vml" Requires="v">
                <p:oleObj spid="_x0000_s5133" name="Equation" r:id="rId4" imgW="1409400" imgH="253800" progId="Equation.DSMT4">
                  <p:embed/>
                </p:oleObj>
              </mc:Choice>
              <mc:Fallback>
                <p:oleObj name="Equation" r:id="rId4" imgW="1409400" imgH="253800" progId="Equation.DSMT4">
                  <p:embed/>
                  <p:pic>
                    <p:nvPicPr>
                      <p:cNvPr id="0" name=""/>
                      <p:cNvPicPr/>
                      <p:nvPr/>
                    </p:nvPicPr>
                    <p:blipFill>
                      <a:blip r:embed="rId5"/>
                      <a:stretch>
                        <a:fillRect/>
                      </a:stretch>
                    </p:blipFill>
                    <p:spPr>
                      <a:xfrm>
                        <a:off x="666371" y="5020965"/>
                        <a:ext cx="3567841" cy="642855"/>
                      </a:xfrm>
                      <a:prstGeom prst="rect">
                        <a:avLst/>
                      </a:prstGeom>
                    </p:spPr>
                  </p:pic>
                </p:oleObj>
              </mc:Fallback>
            </mc:AlternateContent>
          </a:graphicData>
        </a:graphic>
      </p:graphicFrame>
    </p:spTree>
    <p:extLst>
      <p:ext uri="{BB962C8B-B14F-4D97-AF65-F5344CB8AC3E}">
        <p14:creationId xmlns:p14="http://schemas.microsoft.com/office/powerpoint/2010/main" val="1981673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a:t>基于本体的主题相关度计算</a:t>
            </a:r>
          </a:p>
        </p:txBody>
      </p:sp>
      <p:sp>
        <p:nvSpPr>
          <p:cNvPr id="3" name="内容占位符 2"/>
          <p:cNvSpPr>
            <a:spLocks noGrp="1"/>
          </p:cNvSpPr>
          <p:nvPr>
            <p:ph idx="1"/>
          </p:nvPr>
        </p:nvSpPr>
        <p:spPr/>
        <p:txBody>
          <a:bodyPr/>
          <a:lstStyle/>
          <a:p>
            <a:pPr marL="0" indent="0">
              <a:buNone/>
            </a:pPr>
            <a:r>
              <a:rPr lang="zh-CN" altLang="en-US" dirty="0" smtClean="0"/>
              <a:t>根据以上的操作，就可以得到主题语义相关度的矩阵：</a:t>
            </a: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smtClean="0"/>
          </a:p>
          <a:p>
            <a:pPr marL="0" indent="0">
              <a:buNone/>
            </a:pPr>
            <a:r>
              <a:rPr lang="zh-CN" altLang="en-US" dirty="0" smtClean="0"/>
              <a:t>其中                             主题概念集合，而</a:t>
            </a:r>
            <a:r>
              <a:rPr lang="en-US" altLang="zh-CN" dirty="0" smtClean="0"/>
              <a:t>n</a:t>
            </a:r>
            <a:r>
              <a:rPr lang="zh-CN" altLang="en-US" dirty="0" smtClean="0"/>
              <a:t>表示本体中概念的数量，</a:t>
            </a:r>
            <a:r>
              <a:rPr lang="en-US" altLang="zh-CN" dirty="0" smtClean="0"/>
              <a:t>m</a:t>
            </a:r>
            <a:r>
              <a:rPr lang="zh-CN" altLang="en-US" dirty="0" smtClean="0"/>
              <a:t>表示主题概念的数量。接下来将主题与目标网页表示成向量。</a:t>
            </a:r>
            <a:endParaRPr lang="en-US" altLang="zh-CN" dirty="0"/>
          </a:p>
          <a:p>
            <a:pPr marL="0" indent="0">
              <a:buNone/>
            </a:pPr>
            <a:endParaRPr lang="en-US" altLang="zh-CN" dirty="0" smtClean="0"/>
          </a:p>
          <a:p>
            <a:pPr marL="0" indent="0">
              <a:buNone/>
            </a:pP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313023479"/>
              </p:ext>
            </p:extLst>
          </p:nvPr>
        </p:nvGraphicFramePr>
        <p:xfrm>
          <a:off x="1442586" y="2360801"/>
          <a:ext cx="5012805" cy="2248167"/>
        </p:xfrm>
        <a:graphic>
          <a:graphicData uri="http://schemas.openxmlformats.org/presentationml/2006/ole">
            <mc:AlternateContent xmlns:mc="http://schemas.openxmlformats.org/markup-compatibility/2006">
              <mc:Choice xmlns:v="urn:schemas-microsoft-com:vml" Requires="v">
                <p:oleObj spid="_x0000_s6158" name="Equation" r:id="rId3" imgW="2095200" imgH="939600" progId="Equation.DSMT4">
                  <p:embed/>
                </p:oleObj>
              </mc:Choice>
              <mc:Fallback>
                <p:oleObj name="Equation" r:id="rId3" imgW="2095200" imgH="939600" progId="Equation.DSMT4">
                  <p:embed/>
                  <p:pic>
                    <p:nvPicPr>
                      <p:cNvPr id="0" name=""/>
                      <p:cNvPicPr/>
                      <p:nvPr/>
                    </p:nvPicPr>
                    <p:blipFill>
                      <a:blip r:embed="rId4"/>
                      <a:stretch>
                        <a:fillRect/>
                      </a:stretch>
                    </p:blipFill>
                    <p:spPr>
                      <a:xfrm>
                        <a:off x="1442586" y="2360801"/>
                        <a:ext cx="5012805" cy="224816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矩形 4"/>
              <p:cNvSpPr/>
              <p:nvPr/>
            </p:nvSpPr>
            <p:spPr>
              <a:xfrm>
                <a:off x="1714474" y="4913207"/>
                <a:ext cx="2158283" cy="411395"/>
              </a:xfrm>
              <a:prstGeom prst="rect">
                <a:avLst/>
              </a:prstGeom>
            </p:spPr>
            <p:txBody>
              <a:bodyPr wrap="none">
                <a:spAutoFit/>
              </a:bodyPr>
              <a:lstStyle/>
              <a:p>
                <a14:m>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𝑠</m:t>
                        </m:r>
                      </m:e>
                      <m:sub>
                        <m:r>
                          <a:rPr lang="zh-CN" altLang="en-US" i="1">
                            <a:latin typeface="Cambria Math" panose="02040503050406030204" pitchFamily="18" charset="0"/>
                          </a:rPr>
                          <m:t>𝑖𝑗</m:t>
                        </m:r>
                      </m:sub>
                    </m:sSub>
                  </m:oMath>
                </a14:m>
                <a:r>
                  <a:rPr lang="en-US" altLang="zh-CN" dirty="0" smtClean="0"/>
                  <a:t>=</a:t>
                </a:r>
                <a14:m>
                  <m:oMath xmlns:m="http://schemas.openxmlformats.org/officeDocument/2006/math">
                    <m:r>
                      <a:rPr lang="zh-CN" altLang="en-US" i="1">
                        <a:latin typeface="Cambria Math" panose="02040503050406030204" pitchFamily="18" charset="0"/>
                      </a:rPr>
                      <m:t>𝑠𝑖𝑚</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𝑖</m:t>
                            </m:r>
                          </m:sub>
                        </m:sSub>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𝑗</m:t>
                            </m:r>
                          </m:sub>
                        </m:sSub>
                      </m:e>
                    </m:d>
                    <m:sSub>
                      <m:sSubPr>
                        <m:ctrlPr>
                          <a:rPr lang="zh-CN" altLang="en-US" i="1">
                            <a:latin typeface="Cambria Math" panose="02040503050406030204" pitchFamily="18" charset="0"/>
                          </a:rPr>
                        </m:ctrlPr>
                      </m:sSubPr>
                      <m:e>
                        <m:r>
                          <a:rPr lang="en-US" altLang="zh-CN" b="0" i="1" smtClean="0">
                            <a:latin typeface="Cambria Math" panose="02040503050406030204" pitchFamily="18" charset="0"/>
                          </a:rPr>
                          <m:t>       </m:t>
                        </m:r>
                        <m:r>
                          <a:rPr lang="zh-CN" altLang="en-US" i="1">
                            <a:latin typeface="Cambria Math" panose="02040503050406030204" pitchFamily="18" charset="0"/>
                          </a:rPr>
                          <m:t>𝑐</m:t>
                        </m:r>
                      </m:e>
                      <m:sub>
                        <m:r>
                          <a:rPr lang="zh-CN" altLang="en-US" i="1">
                            <a:latin typeface="Cambria Math" panose="02040503050406030204" pitchFamily="18" charset="0"/>
                          </a:rPr>
                          <m:t>𝑖</m:t>
                        </m:r>
                      </m:sub>
                    </m:sSub>
                  </m:oMath>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714474" y="4913207"/>
                <a:ext cx="2158283" cy="411395"/>
              </a:xfrm>
              <a:prstGeom prst="rect">
                <a:avLst/>
              </a:prstGeom>
              <a:blipFill rotWithShape="0">
                <a:blip r:embed="rId5"/>
                <a:stretch>
                  <a:fillRect t="-2985" b="-194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681839" y="4959478"/>
                <a:ext cx="38183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3681839" y="4959478"/>
                <a:ext cx="381835" cy="369332"/>
              </a:xfrm>
              <a:prstGeom prst="rect">
                <a:avLst/>
              </a:prstGeom>
              <a:blipFill rotWithShape="0">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96604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smtClean="0"/>
              <a:t>主题向量化</a:t>
            </a:r>
            <a:endParaRPr lang="zh-CN" altLang="en-US" dirty="0"/>
          </a:p>
        </p:txBody>
      </p:sp>
      <p:sp>
        <p:nvSpPr>
          <p:cNvPr id="3" name="内容占位符 2"/>
          <p:cNvSpPr>
            <a:spLocks noGrp="1"/>
          </p:cNvSpPr>
          <p:nvPr>
            <p:ph idx="1"/>
          </p:nvPr>
        </p:nvSpPr>
        <p:spPr>
          <a:xfrm>
            <a:off x="1042916" y="2972037"/>
            <a:ext cx="10515600" cy="4351338"/>
          </a:xfrm>
        </p:spPr>
        <p:txBody>
          <a:bodyPr/>
          <a:lstStyle/>
          <a:p>
            <a:pPr marL="0" indent="0">
              <a:buNone/>
            </a:pPr>
            <a:r>
              <a:rPr lang="zh-CN" altLang="en-US" dirty="0" smtClean="0"/>
              <a:t>在进行主题向量化之前，首先需要明确在一个网页中，它只包含了</a:t>
            </a:r>
            <a:r>
              <a:rPr lang="zh-CN" altLang="en-US" dirty="0"/>
              <a:t>一</a:t>
            </a:r>
            <a:r>
              <a:rPr lang="zh-CN" altLang="en-US" dirty="0" smtClean="0"/>
              <a:t>个领域的局部。对一个领域主题的整体特征进行描述，则需要属于该主题的一个网页集合。所以在这里定义</a:t>
            </a:r>
            <a:r>
              <a:rPr lang="en-US" altLang="zh-CN" dirty="0" smtClean="0"/>
              <a:t>TP</a:t>
            </a:r>
            <a:r>
              <a:rPr lang="zh-CN" altLang="en-US" dirty="0" smtClean="0"/>
              <a:t>为能够均匀覆盖特定主题的所有概念的网页集合，</a:t>
            </a:r>
            <a:r>
              <a:rPr lang="en-US" altLang="zh-CN" dirty="0" smtClean="0"/>
              <a:t>P</a:t>
            </a:r>
            <a:r>
              <a:rPr lang="zh-CN" altLang="en-US" dirty="0" smtClean="0"/>
              <a:t>为一般的网页集合</a:t>
            </a:r>
            <a:endParaRPr lang="zh-CN" altLang="en-US" dirty="0"/>
          </a:p>
        </p:txBody>
      </p:sp>
    </p:spTree>
    <p:extLst>
      <p:ext uri="{BB962C8B-B14F-4D97-AF65-F5344CB8AC3E}">
        <p14:creationId xmlns:p14="http://schemas.microsoft.com/office/powerpoint/2010/main" val="1562078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smtClean="0"/>
              <a:t>主题向量化</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根据</a:t>
            </a:r>
            <a:r>
              <a:rPr lang="en-US" altLang="zh-CN" dirty="0" err="1" smtClean="0"/>
              <a:t>tf-idf</a:t>
            </a:r>
            <a:r>
              <a:rPr lang="zh-CN" altLang="en-US" dirty="0" smtClean="0"/>
              <a:t>算法思想，计算</a:t>
            </a:r>
            <a:r>
              <a:rPr lang="zh-CN" altLang="en-US" dirty="0" smtClean="0"/>
              <a:t>每个</a:t>
            </a:r>
            <a:r>
              <a:rPr lang="zh-CN" altLang="en-US" dirty="0"/>
              <a:t>主题</a:t>
            </a:r>
            <a:r>
              <a:rPr lang="zh-CN" altLang="en-US" dirty="0" smtClean="0"/>
              <a:t>词</a:t>
            </a:r>
            <a:r>
              <a:rPr lang="zh-CN" altLang="en-US" dirty="0" smtClean="0"/>
              <a:t>的权重：</a:t>
            </a:r>
            <a:endParaRPr lang="en-US" altLang="zh-CN" dirty="0" smtClean="0"/>
          </a:p>
          <a:p>
            <a:pPr marL="0" indent="0">
              <a:buNone/>
            </a:pPr>
            <a:endParaRPr lang="en-US" altLang="zh-CN" dirty="0" smtClean="0"/>
          </a:p>
          <a:p>
            <a:pPr marL="0" indent="0">
              <a:buNone/>
            </a:pPr>
            <a:r>
              <a:rPr lang="en-US" altLang="zh-CN" dirty="0"/>
              <a:t> </a:t>
            </a:r>
            <a:r>
              <a:rPr lang="en-US" altLang="zh-CN" dirty="0" smtClean="0"/>
              <a:t>                                                              </a:t>
            </a:r>
            <a:endParaRPr lang="en-US" altLang="zh-CN" dirty="0"/>
          </a:p>
          <a:p>
            <a:pPr marL="0" indent="0">
              <a:buNone/>
            </a:pPr>
            <a:endParaRPr lang="en-US" altLang="zh-CN" dirty="0" smtClean="0"/>
          </a:p>
          <a:p>
            <a:pPr marL="0" indent="0">
              <a:buNone/>
            </a:pPr>
            <a:r>
              <a:rPr lang="zh-CN" altLang="en-US" dirty="0" smtClean="0"/>
              <a:t>于是就得到了特征词的权重向量                                                      </a:t>
            </a:r>
            <a:endParaRPr lang="en-US" altLang="zh-CN" dirty="0" smtClean="0"/>
          </a:p>
          <a:p>
            <a:pPr marL="0" indent="0">
              <a:buNone/>
            </a:pPr>
            <a:endParaRPr lang="en-US" altLang="zh-CN" dirty="0"/>
          </a:p>
          <a:p>
            <a:pPr marL="0" indent="0">
              <a:buNone/>
            </a:pPr>
            <a:r>
              <a:rPr lang="zh-CN" altLang="en-US" dirty="0" smtClean="0"/>
              <a:t>主题向量就为</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06021526"/>
              </p:ext>
            </p:extLst>
          </p:nvPr>
        </p:nvGraphicFramePr>
        <p:xfrm>
          <a:off x="2949717" y="2314550"/>
          <a:ext cx="2864072" cy="1070093"/>
        </p:xfrm>
        <a:graphic>
          <a:graphicData uri="http://schemas.openxmlformats.org/presentationml/2006/ole">
            <mc:AlternateContent xmlns:mc="http://schemas.openxmlformats.org/markup-compatibility/2006">
              <mc:Choice xmlns:v="urn:schemas-microsoft-com:vml" Requires="v">
                <p:oleObj spid="_x0000_s7195" name="Equation" r:id="rId3" imgW="1155600" imgH="431640" progId="Equation.DSMT4">
                  <p:embed/>
                </p:oleObj>
              </mc:Choice>
              <mc:Fallback>
                <p:oleObj name="Equation" r:id="rId3" imgW="1155600" imgH="431640" progId="Equation.DSMT4">
                  <p:embed/>
                  <p:pic>
                    <p:nvPicPr>
                      <p:cNvPr id="0" name=""/>
                      <p:cNvPicPr/>
                      <p:nvPr/>
                    </p:nvPicPr>
                    <p:blipFill>
                      <a:blip r:embed="rId4"/>
                      <a:stretch>
                        <a:fillRect/>
                      </a:stretch>
                    </p:blipFill>
                    <p:spPr>
                      <a:xfrm>
                        <a:off x="2949717" y="2314550"/>
                        <a:ext cx="2864072" cy="107009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02883254"/>
              </p:ext>
            </p:extLst>
          </p:nvPr>
        </p:nvGraphicFramePr>
        <p:xfrm>
          <a:off x="6178455" y="3728338"/>
          <a:ext cx="4002775" cy="721812"/>
        </p:xfrm>
        <a:graphic>
          <a:graphicData uri="http://schemas.openxmlformats.org/presentationml/2006/ole">
            <mc:AlternateContent xmlns:mc="http://schemas.openxmlformats.org/markup-compatibility/2006">
              <mc:Choice xmlns:v="urn:schemas-microsoft-com:vml" Requires="v">
                <p:oleObj spid="_x0000_s7196" name="Equation" r:id="rId5" imgW="1549080" imgH="279360" progId="Equation.DSMT4">
                  <p:embed/>
                </p:oleObj>
              </mc:Choice>
              <mc:Fallback>
                <p:oleObj name="Equation" r:id="rId5" imgW="1549080" imgH="279360" progId="Equation.DSMT4">
                  <p:embed/>
                  <p:pic>
                    <p:nvPicPr>
                      <p:cNvPr id="0" name=""/>
                      <p:cNvPicPr/>
                      <p:nvPr/>
                    </p:nvPicPr>
                    <p:blipFill>
                      <a:blip r:embed="rId6"/>
                      <a:stretch>
                        <a:fillRect/>
                      </a:stretch>
                    </p:blipFill>
                    <p:spPr>
                      <a:xfrm>
                        <a:off x="6178455" y="3728338"/>
                        <a:ext cx="4002775" cy="72181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050429834"/>
              </p:ext>
            </p:extLst>
          </p:nvPr>
        </p:nvGraphicFramePr>
        <p:xfrm>
          <a:off x="3345185" y="4785955"/>
          <a:ext cx="4105217" cy="1002801"/>
        </p:xfrm>
        <a:graphic>
          <a:graphicData uri="http://schemas.openxmlformats.org/presentationml/2006/ole">
            <mc:AlternateContent xmlns:mc="http://schemas.openxmlformats.org/markup-compatibility/2006">
              <mc:Choice xmlns:v="urn:schemas-microsoft-com:vml" Requires="v">
                <p:oleObj spid="_x0000_s7197" name="Equation" r:id="rId7" imgW="1663560" imgH="406080" progId="Equation.DSMT4">
                  <p:embed/>
                </p:oleObj>
              </mc:Choice>
              <mc:Fallback>
                <p:oleObj name="Equation" r:id="rId7" imgW="1663560" imgH="406080" progId="Equation.DSMT4">
                  <p:embed/>
                  <p:pic>
                    <p:nvPicPr>
                      <p:cNvPr id="0" name=""/>
                      <p:cNvPicPr/>
                      <p:nvPr/>
                    </p:nvPicPr>
                    <p:blipFill>
                      <a:blip r:embed="rId8"/>
                      <a:stretch>
                        <a:fillRect/>
                      </a:stretch>
                    </p:blipFill>
                    <p:spPr>
                      <a:xfrm>
                        <a:off x="3345185" y="4785955"/>
                        <a:ext cx="4105217" cy="1002801"/>
                      </a:xfrm>
                      <a:prstGeom prst="rect">
                        <a:avLst/>
                      </a:prstGeom>
                    </p:spPr>
                  </p:pic>
                </p:oleObj>
              </mc:Fallback>
            </mc:AlternateContent>
          </a:graphicData>
        </a:graphic>
      </p:graphicFrame>
    </p:spTree>
    <p:extLst>
      <p:ext uri="{BB962C8B-B14F-4D97-AF65-F5344CB8AC3E}">
        <p14:creationId xmlns:p14="http://schemas.microsoft.com/office/powerpoint/2010/main" val="63407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smtClean="0"/>
              <a:t>目标网页向量化</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根据</a:t>
            </a:r>
            <a:r>
              <a:rPr lang="en-US" altLang="zh-CN" dirty="0" err="1" smtClean="0"/>
              <a:t>tf-idf</a:t>
            </a:r>
            <a:r>
              <a:rPr lang="zh-CN" altLang="en-US" dirty="0" smtClean="0"/>
              <a:t>算法思想，计算每个特征词的权重：</a:t>
            </a:r>
            <a:endParaRPr lang="en-US" altLang="zh-CN" dirty="0" smtClean="0"/>
          </a:p>
          <a:p>
            <a:pPr marL="0" indent="0">
              <a:buNone/>
            </a:pPr>
            <a:endParaRPr lang="en-US" altLang="zh-CN" dirty="0" smtClean="0"/>
          </a:p>
          <a:p>
            <a:pPr marL="0" indent="0">
              <a:buNone/>
            </a:pPr>
            <a:r>
              <a:rPr lang="en-US" altLang="zh-CN" dirty="0"/>
              <a:t> </a:t>
            </a:r>
            <a:r>
              <a:rPr lang="en-US" altLang="zh-CN" dirty="0" smtClean="0"/>
              <a:t>                                                              </a:t>
            </a:r>
            <a:endParaRPr lang="en-US" altLang="zh-CN" dirty="0"/>
          </a:p>
          <a:p>
            <a:pPr marL="0" indent="0">
              <a:buNone/>
            </a:pPr>
            <a:endParaRPr lang="en-US" altLang="zh-CN" dirty="0" smtClean="0"/>
          </a:p>
          <a:p>
            <a:pPr marL="0" indent="0">
              <a:buNone/>
            </a:pPr>
            <a:r>
              <a:rPr lang="zh-CN" altLang="en-US" dirty="0" smtClean="0"/>
              <a:t>于是就得到了特征词的权重向量                                                      </a:t>
            </a:r>
            <a:endParaRPr lang="en-US" altLang="zh-CN" dirty="0" smtClean="0"/>
          </a:p>
          <a:p>
            <a:pPr marL="0" indent="0">
              <a:buNone/>
            </a:pPr>
            <a:endParaRPr lang="en-US" altLang="zh-CN" dirty="0"/>
          </a:p>
          <a:p>
            <a:pPr marL="0" indent="0">
              <a:buNone/>
            </a:pPr>
            <a:r>
              <a:rPr lang="zh-CN" altLang="en-US" dirty="0" smtClean="0"/>
              <a:t>主题向量就为</a:t>
            </a:r>
            <a:endParaRPr lang="zh-CN" altLang="en-US" dirty="0"/>
          </a:p>
        </p:txBody>
      </p:sp>
      <p:graphicFrame>
        <p:nvGraphicFramePr>
          <p:cNvPr id="4" name="对象 3"/>
          <p:cNvGraphicFramePr>
            <a:graphicFrameLocks noChangeAspect="1"/>
          </p:cNvGraphicFramePr>
          <p:nvPr/>
        </p:nvGraphicFramePr>
        <p:xfrm>
          <a:off x="2949717" y="2314550"/>
          <a:ext cx="2864072" cy="1070093"/>
        </p:xfrm>
        <a:graphic>
          <a:graphicData uri="http://schemas.openxmlformats.org/presentationml/2006/ole">
            <mc:AlternateContent xmlns:mc="http://schemas.openxmlformats.org/markup-compatibility/2006">
              <mc:Choice xmlns:v="urn:schemas-microsoft-com:vml" Requires="v">
                <p:oleObj spid="_x0000_s8218" name="Equation" r:id="rId3" imgW="1155600" imgH="431640" progId="Equation.DSMT4">
                  <p:embed/>
                </p:oleObj>
              </mc:Choice>
              <mc:Fallback>
                <p:oleObj name="Equation" r:id="rId3" imgW="1155600" imgH="431640" progId="Equation.DSMT4">
                  <p:embed/>
                  <p:pic>
                    <p:nvPicPr>
                      <p:cNvPr id="0" name=""/>
                      <p:cNvPicPr/>
                      <p:nvPr/>
                    </p:nvPicPr>
                    <p:blipFill>
                      <a:blip r:embed="rId4"/>
                      <a:stretch>
                        <a:fillRect/>
                      </a:stretch>
                    </p:blipFill>
                    <p:spPr>
                      <a:xfrm>
                        <a:off x="2949717" y="2314550"/>
                        <a:ext cx="2864072" cy="107009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505894637"/>
              </p:ext>
            </p:extLst>
          </p:nvPr>
        </p:nvGraphicFramePr>
        <p:xfrm>
          <a:off x="6146800" y="3729038"/>
          <a:ext cx="4067175" cy="720725"/>
        </p:xfrm>
        <a:graphic>
          <a:graphicData uri="http://schemas.openxmlformats.org/presentationml/2006/ole">
            <mc:AlternateContent xmlns:mc="http://schemas.openxmlformats.org/markup-compatibility/2006">
              <mc:Choice xmlns:v="urn:schemas-microsoft-com:vml" Requires="v">
                <p:oleObj spid="_x0000_s8219" name="Equation" r:id="rId5" imgW="1574640" imgH="279360" progId="Equation.DSMT4">
                  <p:embed/>
                </p:oleObj>
              </mc:Choice>
              <mc:Fallback>
                <p:oleObj name="Equation" r:id="rId5" imgW="1574640" imgH="279360" progId="Equation.DSMT4">
                  <p:embed/>
                  <p:pic>
                    <p:nvPicPr>
                      <p:cNvPr id="0" name=""/>
                      <p:cNvPicPr/>
                      <p:nvPr/>
                    </p:nvPicPr>
                    <p:blipFill>
                      <a:blip r:embed="rId6"/>
                      <a:stretch>
                        <a:fillRect/>
                      </a:stretch>
                    </p:blipFill>
                    <p:spPr>
                      <a:xfrm>
                        <a:off x="6146800" y="3729038"/>
                        <a:ext cx="4067175" cy="720725"/>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259372057"/>
              </p:ext>
            </p:extLst>
          </p:nvPr>
        </p:nvGraphicFramePr>
        <p:xfrm>
          <a:off x="3267075" y="4786313"/>
          <a:ext cx="4262438" cy="1001712"/>
        </p:xfrm>
        <a:graphic>
          <a:graphicData uri="http://schemas.openxmlformats.org/presentationml/2006/ole">
            <mc:AlternateContent xmlns:mc="http://schemas.openxmlformats.org/markup-compatibility/2006">
              <mc:Choice xmlns:v="urn:schemas-microsoft-com:vml" Requires="v">
                <p:oleObj spid="_x0000_s8220" name="Equation" r:id="rId7" imgW="1726920" imgH="406080" progId="Equation.DSMT4">
                  <p:embed/>
                </p:oleObj>
              </mc:Choice>
              <mc:Fallback>
                <p:oleObj name="Equation" r:id="rId7" imgW="1726920" imgH="406080" progId="Equation.DSMT4">
                  <p:embed/>
                  <p:pic>
                    <p:nvPicPr>
                      <p:cNvPr id="0" name=""/>
                      <p:cNvPicPr/>
                      <p:nvPr/>
                    </p:nvPicPr>
                    <p:blipFill>
                      <a:blip r:embed="rId8"/>
                      <a:stretch>
                        <a:fillRect/>
                      </a:stretch>
                    </p:blipFill>
                    <p:spPr>
                      <a:xfrm>
                        <a:off x="3267075" y="4786313"/>
                        <a:ext cx="4262438" cy="1001712"/>
                      </a:xfrm>
                      <a:prstGeom prst="rect">
                        <a:avLst/>
                      </a:prstGeom>
                    </p:spPr>
                  </p:pic>
                </p:oleObj>
              </mc:Fallback>
            </mc:AlternateContent>
          </a:graphicData>
        </a:graphic>
      </p:graphicFrame>
    </p:spTree>
    <p:extLst>
      <p:ext uri="{BB962C8B-B14F-4D97-AF65-F5344CB8AC3E}">
        <p14:creationId xmlns:p14="http://schemas.microsoft.com/office/powerpoint/2010/main" val="936814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smtClean="0"/>
              <a:t>目标网页与主题的相关度</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根据以上将主题与目标网页向量化表示后，根据向量空间模型的思想，计算两者的相关度，计算公式为</a:t>
            </a:r>
            <a:endParaRPr lang="en-US" altLang="zh-CN" dirty="0" smtClean="0"/>
          </a:p>
          <a:p>
            <a:pPr marL="0" indent="0">
              <a:buNone/>
            </a:pP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409533176"/>
              </p:ext>
            </p:extLst>
          </p:nvPr>
        </p:nvGraphicFramePr>
        <p:xfrm>
          <a:off x="2002145" y="3111689"/>
          <a:ext cx="7621001" cy="1569492"/>
        </p:xfrm>
        <a:graphic>
          <a:graphicData uri="http://schemas.openxmlformats.org/presentationml/2006/ole">
            <mc:AlternateContent xmlns:mc="http://schemas.openxmlformats.org/markup-compatibility/2006">
              <mc:Choice xmlns:v="urn:schemas-microsoft-com:vml" Requires="v">
                <p:oleObj spid="_x0000_s9226" name="Equation" r:id="rId3" imgW="3924000" imgH="876240" progId="Equation.DSMT4">
                  <p:embed/>
                </p:oleObj>
              </mc:Choice>
              <mc:Fallback>
                <p:oleObj name="Equation" r:id="rId3" imgW="3924000" imgH="876240" progId="Equation.DSMT4">
                  <p:embed/>
                  <p:pic>
                    <p:nvPicPr>
                      <p:cNvPr id="0" name=""/>
                      <p:cNvPicPr/>
                      <p:nvPr/>
                    </p:nvPicPr>
                    <p:blipFill>
                      <a:blip r:embed="rId4"/>
                      <a:stretch>
                        <a:fillRect/>
                      </a:stretch>
                    </p:blipFill>
                    <p:spPr>
                      <a:xfrm>
                        <a:off x="2002145" y="3111689"/>
                        <a:ext cx="7621001" cy="1569492"/>
                      </a:xfrm>
                      <a:prstGeom prst="rect">
                        <a:avLst/>
                      </a:prstGeom>
                    </p:spPr>
                  </p:pic>
                </p:oleObj>
              </mc:Fallback>
            </mc:AlternateContent>
          </a:graphicData>
        </a:graphic>
      </p:graphicFrame>
    </p:spTree>
    <p:extLst>
      <p:ext uri="{BB962C8B-B14F-4D97-AF65-F5344CB8AC3E}">
        <p14:creationId xmlns:p14="http://schemas.microsoft.com/office/powerpoint/2010/main" val="1361358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smtClean="0"/>
              <a:t>结果分析</a:t>
            </a:r>
            <a:endParaRPr lang="zh-CN" altLang="en-US" dirty="0"/>
          </a:p>
        </p:txBody>
      </p:sp>
      <p:sp>
        <p:nvSpPr>
          <p:cNvPr id="3" name="内容占位符 2"/>
          <p:cNvSpPr>
            <a:spLocks noGrp="1"/>
          </p:cNvSpPr>
          <p:nvPr>
            <p:ph idx="1"/>
          </p:nvPr>
        </p:nvSpPr>
        <p:spPr>
          <a:xfrm>
            <a:off x="196755" y="1034054"/>
            <a:ext cx="10515600" cy="4351338"/>
          </a:xfrm>
        </p:spPr>
        <p:txBody>
          <a:bodyPr/>
          <a:lstStyle/>
          <a:p>
            <a:pPr marL="0" indent="0">
              <a:buNone/>
            </a:pPr>
            <a:r>
              <a:rPr lang="zh-CN" altLang="en-US" dirty="0" smtClean="0"/>
              <a:t>本方法采用信息检索领域常用的检索效果指标召回率</a:t>
            </a:r>
            <a:r>
              <a:rPr lang="en-US" altLang="zh-CN" dirty="0" smtClean="0"/>
              <a:t>R</a:t>
            </a:r>
            <a:r>
              <a:rPr lang="zh-CN" altLang="en-US" dirty="0" smtClean="0"/>
              <a:t>，准确率</a:t>
            </a:r>
            <a:r>
              <a:rPr lang="en-US" altLang="zh-CN" dirty="0" smtClean="0"/>
              <a:t>P</a:t>
            </a:r>
            <a:r>
              <a:rPr lang="zh-CN" altLang="en-US" dirty="0" smtClean="0"/>
              <a:t>以及综合考虑召回率和准确率的</a:t>
            </a:r>
            <a:r>
              <a:rPr lang="en-US" altLang="zh-CN" dirty="0" smtClean="0"/>
              <a:t>F</a:t>
            </a:r>
            <a:r>
              <a:rPr lang="zh-CN" altLang="en-US" dirty="0" smtClean="0"/>
              <a:t>值。</a:t>
            </a:r>
            <a:endParaRPr lang="en-US" altLang="zh-CN" dirty="0" smtClean="0"/>
          </a:p>
          <a:p>
            <a:pPr marL="0" indent="0">
              <a:buNone/>
            </a:pPr>
            <a:r>
              <a:rPr lang="zh-CN" altLang="en-US" sz="2400" dirty="0"/>
              <a:t>召回</a:t>
            </a:r>
            <a:r>
              <a:rPr lang="zh-CN" altLang="en-US" sz="2400" dirty="0" smtClean="0"/>
              <a:t>率</a:t>
            </a:r>
            <a:r>
              <a:rPr lang="en-US" altLang="zh-CN" sz="2400" dirty="0" smtClean="0"/>
              <a:t>R=</a:t>
            </a:r>
            <a:r>
              <a:rPr lang="zh-CN" altLang="en-US" sz="2400" dirty="0" smtClean="0"/>
              <a:t>计算得到的与主题相关的网页数量</a:t>
            </a:r>
            <a:r>
              <a:rPr lang="en-US" altLang="zh-CN" sz="2400" dirty="0" smtClean="0"/>
              <a:t>/</a:t>
            </a:r>
            <a:r>
              <a:rPr lang="zh-CN" altLang="en-US" sz="2400" dirty="0" smtClean="0"/>
              <a:t>实际与主题相关的网页数量</a:t>
            </a:r>
            <a:endParaRPr lang="en-US" altLang="zh-CN" sz="2400" dirty="0" smtClean="0"/>
          </a:p>
          <a:p>
            <a:pPr marL="0" indent="0">
              <a:buNone/>
            </a:pPr>
            <a:r>
              <a:rPr lang="zh-CN" altLang="en-US" sz="2400" dirty="0" smtClean="0"/>
              <a:t>准确率</a:t>
            </a:r>
            <a:r>
              <a:rPr lang="en-US" altLang="zh-CN" sz="2400" dirty="0" smtClean="0"/>
              <a:t>P=</a:t>
            </a:r>
            <a:r>
              <a:rPr lang="zh-CN" altLang="en-US" sz="2400" dirty="0" smtClean="0"/>
              <a:t>计算得到的与主题相关的网页数中实际与主题相关的网页数量</a:t>
            </a:r>
            <a:r>
              <a:rPr lang="en-US" altLang="zh-CN" sz="2400" dirty="0" smtClean="0"/>
              <a:t>/</a:t>
            </a:r>
            <a:r>
              <a:rPr lang="zh-CN" altLang="en-US" sz="2400" dirty="0" smtClean="0"/>
              <a:t>计算             得到的与主题相关的网页数量</a:t>
            </a:r>
            <a:endParaRPr lang="en-US" altLang="zh-CN" sz="2400" dirty="0" smtClean="0"/>
          </a:p>
          <a:p>
            <a:pPr marL="0" indent="0">
              <a:buNone/>
            </a:pPr>
            <a:r>
              <a:rPr lang="zh-CN" altLang="en-US" sz="2400" dirty="0" smtClean="0"/>
              <a:t>在本文中认为召回率和准确率在评定相关度计算方法性能中同等重要</a:t>
            </a:r>
            <a:endParaRPr lang="en-US" altLang="zh-CN" sz="2400" dirty="0" smtClean="0"/>
          </a:p>
          <a:p>
            <a:pPr marL="0" indent="0">
              <a:buNone/>
            </a:pPr>
            <a:r>
              <a:rPr lang="en-US" altLang="zh-CN" sz="2400" dirty="0"/>
              <a:t> </a:t>
            </a:r>
            <a:r>
              <a:rPr lang="en-US" altLang="zh-CN" sz="2400" dirty="0" smtClean="0"/>
              <a:t>   </a:t>
            </a:r>
            <a:r>
              <a:rPr lang="zh-CN" altLang="en-US" sz="2400" dirty="0" smtClean="0"/>
              <a:t>因此</a:t>
            </a:r>
            <a:r>
              <a:rPr lang="en-US" altLang="zh-CN" sz="2400" dirty="0" smtClean="0"/>
              <a:t>F=2RP/(R+P)</a:t>
            </a:r>
          </a:p>
          <a:p>
            <a:pPr marL="0" indent="0">
              <a:buNone/>
            </a:pPr>
            <a:endParaRPr lang="en-US" altLang="zh-CN" sz="2400" dirty="0"/>
          </a:p>
        </p:txBody>
      </p:sp>
      <p:pic>
        <p:nvPicPr>
          <p:cNvPr id="4" name="图片 3"/>
          <p:cNvPicPr>
            <a:picLocks noChangeAspect="1"/>
          </p:cNvPicPr>
          <p:nvPr/>
        </p:nvPicPr>
        <p:blipFill>
          <a:blip r:embed="rId2"/>
          <a:stretch>
            <a:fillRect/>
          </a:stretch>
        </p:blipFill>
        <p:spPr>
          <a:xfrm>
            <a:off x="4156446" y="3601636"/>
            <a:ext cx="5571429" cy="3066667"/>
          </a:xfrm>
          <a:prstGeom prst="rect">
            <a:avLst/>
          </a:prstGeom>
        </p:spPr>
      </p:pic>
    </p:spTree>
    <p:extLst>
      <p:ext uri="{BB962C8B-B14F-4D97-AF65-F5344CB8AC3E}">
        <p14:creationId xmlns:p14="http://schemas.microsoft.com/office/powerpoint/2010/main" val="30563455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1070</TotalTime>
  <Words>1331</Words>
  <Application>Microsoft Office PowerPoint</Application>
  <PresentationFormat>宽屏</PresentationFormat>
  <Paragraphs>111</Paragraphs>
  <Slides>16</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2</vt:i4>
      </vt:variant>
      <vt:variant>
        <vt:lpstr>幻灯片标题</vt:lpstr>
      </vt:variant>
      <vt:variant>
        <vt:i4>16</vt:i4>
      </vt:variant>
    </vt:vector>
  </HeadingPairs>
  <TitlesOfParts>
    <vt:vector size="24" baseType="lpstr">
      <vt:lpstr>宋体</vt:lpstr>
      <vt:lpstr>Arial</vt:lpstr>
      <vt:lpstr>Calibri</vt:lpstr>
      <vt:lpstr>Calibri Light</vt:lpstr>
      <vt:lpstr>Cambria Math</vt:lpstr>
      <vt:lpstr>Office 主题</vt:lpstr>
      <vt:lpstr>Equation</vt:lpstr>
      <vt:lpstr>MathType 6.0 Equation</vt:lpstr>
      <vt:lpstr>主题相关度计算</vt:lpstr>
      <vt:lpstr>研究背景</vt:lpstr>
      <vt:lpstr>基于向量空间模型的主题相关度计算</vt:lpstr>
      <vt:lpstr>基于向量空间模型的主题相关度计算</vt:lpstr>
      <vt:lpstr>基于向量空间模型的主题相关度计算</vt:lpstr>
      <vt:lpstr>基于向量空间模型的主题相关度计算</vt:lpstr>
      <vt:lpstr>基于向量空间模型的不足</vt:lpstr>
      <vt:lpstr>基于语义的主题相关度计算</vt:lpstr>
      <vt:lpstr>基于本体的主题相关度计算—确定主题概念</vt:lpstr>
      <vt:lpstr>基于本体的主题相关度计算—确定主题概念</vt:lpstr>
      <vt:lpstr>基于本体的主题相关度计算</vt:lpstr>
      <vt:lpstr>主题向量化</vt:lpstr>
      <vt:lpstr>主题向量化</vt:lpstr>
      <vt:lpstr>目标网页向量化</vt:lpstr>
      <vt:lpstr>目标网页与主题的相关度</vt:lpstr>
      <vt:lpstr>结果分析</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高冷却帅</dc:creator>
  <cp:lastModifiedBy>高冷却帅</cp:lastModifiedBy>
  <cp:revision>34</cp:revision>
  <dcterms:created xsi:type="dcterms:W3CDTF">2020-07-23T03:42:33Z</dcterms:created>
  <dcterms:modified xsi:type="dcterms:W3CDTF">2020-08-02T05:54:31Z</dcterms:modified>
</cp:coreProperties>
</file>